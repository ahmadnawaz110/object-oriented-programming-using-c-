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D3677-50E2-46A7-BAB5-635A6678929D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D4D0E1-6C43-4F3D-A97B-16580A04B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757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4D0E1-6C43-4F3D-A97B-16580A04BF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09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4D0E1-6C43-4F3D-A97B-16580A04BF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88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7A011-13D6-48A4-9077-1AAE1B7D3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C2A7E-2D29-451D-A645-201E85BB8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B6DC1-1652-4DE8-AD20-34770631D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A91B3-973A-4343-A81E-7FAA9F5069E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53E2D-325B-41C7-88E4-212B031C1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90843-2C9D-45E3-8E9C-84EEDB614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5C88-7F23-4BAC-A9B6-727C84E1D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45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2F3A1-C7F8-4486-9C78-CD1E8DFD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26065-D706-4502-B235-ECDD80144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8763E-80A3-4A0D-BA16-725B47E36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A91B3-973A-4343-A81E-7FAA9F5069E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491D8-CCC9-4A88-B095-4FACEA97C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AFC9A-8B9A-4408-AC39-4135BB061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5C88-7F23-4BAC-A9B6-727C84E1D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717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87586-0405-436E-9B1E-2664481BB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73DD3-C187-4344-91F7-44A73CAAD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F5786-3DBE-4AE9-8929-82089FE1F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A91B3-973A-4343-A81E-7FAA9F5069E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82CC5-BC8E-4535-9CB7-A01172359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BF8A4-CE7D-458A-8212-9BD34F463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5C88-7F23-4BAC-A9B6-727C84E1D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9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0406-7F80-4EB4-BEA3-23E6DD83F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CCC6B-A011-4416-AC40-B55DE28A11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D8120-21D0-442B-BD73-A29904FF4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CDCFE-5B00-440B-BDC6-B078BE0AD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A91B3-973A-4343-A81E-7FAA9F5069E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99F5C-01E6-44A7-93A7-FA56C4B01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5C44D-BA1B-4728-8263-B9377787D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5C88-7F23-4BAC-A9B6-727C84E1D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13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9D5FC-6037-4773-87EB-01429299D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32894-5344-4685-A51E-769E70491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7DF647-DFA6-42C5-97D2-081317F53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EECEED-0117-46D3-9AE3-8266004E2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A678D-B780-4F71-98E7-F864F8A7A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6F4323-0044-45E4-8D03-48E20DB19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A91B3-973A-4343-A81E-7FAA9F5069E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A53C42-6D15-4AF2-87FB-BDF808FF6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1EB099-87BD-41F1-A98B-8BA7151A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5C88-7F23-4BAC-A9B6-727C84E1D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01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8176C-FFCD-440D-BB1D-4281B00ED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042BBF-4A7C-4A33-AFC0-E3175ACA0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A91B3-973A-4343-A81E-7FAA9F5069E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787836-1458-437B-943E-A810C6F31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F6A3B-6253-4637-B08B-7CC932A3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5C88-7F23-4BAC-A9B6-727C84E1D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97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49E45A-4377-41F1-B509-5E23BD79D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A91B3-973A-4343-A81E-7FAA9F5069E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AFF23D-EE18-4730-AD04-8E713EC0A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349C6-4A41-4710-BD9A-E92EE990B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5C88-7F23-4BAC-A9B6-727C84E1D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17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62BE-B1CF-4455-BCB8-E72FAAF2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C7285-2887-4E26-8293-F00CB8D0B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42475-7C6D-4B71-BE9E-F4BB26578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4C8B29-05A2-4630-A95F-CDC7CDF84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A91B3-973A-4343-A81E-7FAA9F5069E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2A134-9D48-45E4-91AC-8B6DFF855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7AAA4-F7B5-4C69-99B2-59D1C2FB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5C88-7F23-4BAC-A9B6-727C84E1D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69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F29AC-8626-4997-A7EE-EF1EC8B30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4430B6-21C5-4250-BEF4-467ABC678D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728F2B-00BB-45D7-BAEE-B624691E3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B6D10-F3B9-44C2-B10A-FF7209162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A91B3-973A-4343-A81E-7FAA9F5069E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A594E-7E16-40EE-A5F1-75AA8B7EB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AFD53-BC5E-40F0-8331-33F8E242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5C88-7F23-4BAC-A9B6-727C84E1D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48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1207E-F45F-4519-B960-61F59B14F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C3A4EC-AB4A-4013-95D9-C2EE51390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72F09-281A-4D53-8528-5C468701A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A91B3-973A-4343-A81E-7FAA9F5069E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5D843-EDB0-47C8-A80A-B0C34BFC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8C1D7-9385-45E8-AF9E-9F520F5A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5C88-7F23-4BAC-A9B6-727C84E1D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96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153EFC-9B99-43A9-B142-2538AF958D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4CEEC9-F414-4396-8E6D-96A2A4637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3FD13-3BD4-499E-9B80-4CC5D446B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A91B3-973A-4343-A81E-7FAA9F5069E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3A685-0590-4BA4-8112-1F1F697B2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7D4A1-1845-4186-915B-14D75B6B1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E5C88-7F23-4BAC-A9B6-727C84E1D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422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A37EE8-AE1F-4F9A-B0C5-22C07687E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3A24C-078D-4272-A4DB-626E1BB16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2D19C-BF09-4DE9-9B95-537B33C3C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A91B3-973A-4343-A81E-7FAA9F5069E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589FE-F4A6-4042-BFB9-DF539E600D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301D8-C9C7-41C8-B4CB-7298192FBB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E5C88-7F23-4BAC-A9B6-727C84E1D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21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qt.io/download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xwidgets.org/download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ltk.org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cornut/imgui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9E2A7-39F4-4A0F-8466-FC2E7852F4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GUI Using C++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0B52C1-3915-43F6-ADE0-006F81CF60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Muhammad Ahmad Nawaz</a:t>
            </a:r>
          </a:p>
        </p:txBody>
      </p:sp>
    </p:spTree>
    <p:extLst>
      <p:ext uri="{BB962C8B-B14F-4D97-AF65-F5344CB8AC3E}">
        <p14:creationId xmlns:p14="http://schemas.microsoft.com/office/powerpoint/2010/main" val="65248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FFA7A-D34B-408F-AA66-9364189D5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effectLst/>
                <a:latin typeface="-apple-system"/>
              </a:rPr>
              <a:t>Qt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CBD99-33F5-48A6-8D21-6FF9074CC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effectLst/>
                <a:latin typeface="-apple-system"/>
              </a:rPr>
              <a:t>Qt is a powerful and widely-used framework for developing cross-platform applications. It provides a comprehensive set of tools for creating complex GUI applications.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91C0424-E3FA-4A7B-984C-6A24493081E1}"/>
              </a:ext>
            </a:extLst>
          </p:cNvPr>
          <p:cNvSpPr txBox="1">
            <a:spLocks/>
          </p:cNvSpPr>
          <p:nvPr/>
        </p:nvSpPr>
        <p:spPr>
          <a:xfrm>
            <a:off x="838200" y="3307204"/>
            <a:ext cx="10515600" cy="32915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#include &lt;</a:t>
            </a:r>
            <a:r>
              <a:rPr lang="en-US" dirty="0" err="1">
                <a:latin typeface="-apple-system"/>
              </a:rPr>
              <a:t>QApplication</a:t>
            </a:r>
            <a:r>
              <a:rPr lang="en-US" dirty="0">
                <a:latin typeface="-apple-system"/>
              </a:rPr>
              <a:t>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#include &lt;</a:t>
            </a:r>
            <a:r>
              <a:rPr lang="en-US" dirty="0" err="1">
                <a:latin typeface="-apple-system"/>
              </a:rPr>
              <a:t>QPushButton</a:t>
            </a:r>
            <a:r>
              <a:rPr lang="en-US" dirty="0">
                <a:latin typeface="-apple-system"/>
              </a:rPr>
              <a:t>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int main(int </a:t>
            </a:r>
            <a:r>
              <a:rPr lang="en-US" dirty="0" err="1">
                <a:latin typeface="-apple-system"/>
              </a:rPr>
              <a:t>argc</a:t>
            </a:r>
            <a:r>
              <a:rPr lang="en-US" dirty="0">
                <a:latin typeface="-apple-system"/>
              </a:rPr>
              <a:t>, char *</a:t>
            </a:r>
            <a:r>
              <a:rPr lang="en-US" dirty="0" err="1">
                <a:latin typeface="-apple-system"/>
              </a:rPr>
              <a:t>argv</a:t>
            </a:r>
            <a:r>
              <a:rPr lang="en-US" dirty="0">
                <a:latin typeface="-apple-system"/>
              </a:rPr>
              <a:t>[])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{    </a:t>
            </a:r>
            <a:r>
              <a:rPr lang="en-US" dirty="0" err="1">
                <a:latin typeface="-apple-system"/>
              </a:rPr>
              <a:t>QApplication</a:t>
            </a:r>
            <a:r>
              <a:rPr lang="en-US" dirty="0">
                <a:latin typeface="-apple-system"/>
              </a:rPr>
              <a:t> app(</a:t>
            </a:r>
            <a:r>
              <a:rPr lang="en-US" dirty="0" err="1">
                <a:latin typeface="-apple-system"/>
              </a:rPr>
              <a:t>argc</a:t>
            </a:r>
            <a:r>
              <a:rPr lang="en-US" dirty="0">
                <a:latin typeface="-apple-system"/>
              </a:rPr>
              <a:t>, </a:t>
            </a:r>
            <a:r>
              <a:rPr lang="en-US" dirty="0" err="1">
                <a:latin typeface="-apple-system"/>
              </a:rPr>
              <a:t>argv</a:t>
            </a:r>
            <a:r>
              <a:rPr lang="en-US" dirty="0">
                <a:latin typeface="-apple-system"/>
              </a:rPr>
              <a:t>);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  </a:t>
            </a:r>
            <a:r>
              <a:rPr lang="en-US" dirty="0" err="1">
                <a:latin typeface="-apple-system"/>
              </a:rPr>
              <a:t>QPushButton</a:t>
            </a:r>
            <a:r>
              <a:rPr lang="en-US" dirty="0">
                <a:latin typeface="-apple-system"/>
              </a:rPr>
              <a:t> button("Hello, World!");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 </a:t>
            </a:r>
            <a:r>
              <a:rPr lang="en-US" dirty="0" err="1">
                <a:latin typeface="-apple-system"/>
              </a:rPr>
              <a:t>button.resize</a:t>
            </a:r>
            <a:r>
              <a:rPr lang="en-US" dirty="0">
                <a:latin typeface="-apple-system"/>
              </a:rPr>
              <a:t>(200, 50);    </a:t>
            </a:r>
            <a:r>
              <a:rPr lang="en-US" dirty="0" err="1">
                <a:latin typeface="-apple-system"/>
              </a:rPr>
              <a:t>button.show</a:t>
            </a:r>
            <a:r>
              <a:rPr lang="en-US" dirty="0">
                <a:latin typeface="-apple-system"/>
              </a:rPr>
              <a:t>();    return </a:t>
            </a:r>
            <a:r>
              <a:rPr lang="en-US" dirty="0" err="1">
                <a:latin typeface="-apple-system"/>
              </a:rPr>
              <a:t>app.exec</a:t>
            </a:r>
            <a:r>
              <a:rPr lang="en-US" dirty="0">
                <a:latin typeface="-apple-system"/>
              </a:rPr>
              <a:t>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;}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187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FFA7A-D34B-408F-AA66-9364189D5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effectLst/>
                <a:latin typeface="-apple-system"/>
              </a:rPr>
              <a:t>Qt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CBD99-33F5-48A6-8D21-6FF9074CC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58218"/>
          </a:xfrm>
        </p:spPr>
        <p:txBody>
          <a:bodyPr>
            <a:normAutofit/>
          </a:bodyPr>
          <a:lstStyle/>
          <a:p>
            <a:pPr algn="l" fontAlgn="base"/>
            <a:r>
              <a:rPr lang="en-US" b="1" i="0" dirty="0">
                <a:effectLst/>
                <a:latin typeface="-apple-system"/>
              </a:rPr>
              <a:t>Steps to Run: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effectLst/>
                <a:latin typeface="inherit"/>
              </a:rPr>
              <a:t>Install Qt from </a:t>
            </a:r>
            <a:r>
              <a:rPr lang="en-US" b="0" i="0" u="sng" dirty="0">
                <a:solidFill>
                  <a:srgbClr val="1783FF"/>
                </a:solidFill>
                <a:effectLst/>
                <a:latin typeface="inherit"/>
                <a:hlinkClick r:id="rId2"/>
              </a:rPr>
              <a:t>Qt's official website</a:t>
            </a:r>
            <a:r>
              <a:rPr lang="en-US" b="0" i="0" dirty="0">
                <a:effectLst/>
                <a:latin typeface="inherit"/>
              </a:rPr>
              <a:t>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effectLst/>
                <a:latin typeface="inherit"/>
              </a:rPr>
              <a:t>Set up a project in Qt Creator.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effectLst/>
                <a:latin typeface="inherit"/>
              </a:rPr>
              <a:t>Compile and run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2710900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FFA7A-D34B-408F-AA66-9364189D5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fontAlgn="base"/>
            <a:r>
              <a:rPr lang="en-US" b="1" i="0" dirty="0" err="1">
                <a:effectLst/>
                <a:latin typeface="inherit"/>
              </a:rPr>
              <a:t>wxWidgets</a:t>
            </a:r>
            <a:endParaRPr lang="en-US" b="1" i="0" dirty="0">
              <a:effectLst/>
              <a:latin typeface="-apple-system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CBD99-33F5-48A6-8D21-6FF9074CC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 err="1">
                <a:effectLst/>
                <a:latin typeface="-apple-system"/>
              </a:rPr>
              <a:t>wxWidgets</a:t>
            </a:r>
            <a:r>
              <a:rPr lang="en-US" b="0" i="0" dirty="0">
                <a:effectLst/>
                <a:latin typeface="-apple-system"/>
              </a:rPr>
              <a:t> is another cross-platform C++ library that allows you to create applications for Windows, macOS, Linux, and other platforms with a single code base.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91C0424-E3FA-4A7B-984C-6A24493081E1}"/>
              </a:ext>
            </a:extLst>
          </p:cNvPr>
          <p:cNvSpPr txBox="1">
            <a:spLocks/>
          </p:cNvSpPr>
          <p:nvPr/>
        </p:nvSpPr>
        <p:spPr>
          <a:xfrm>
            <a:off x="838200" y="3307204"/>
            <a:ext cx="10515600" cy="329155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#include &lt;</a:t>
            </a:r>
            <a:r>
              <a:rPr lang="en-US" dirty="0" err="1">
                <a:latin typeface="-apple-system"/>
              </a:rPr>
              <a:t>wx</a:t>
            </a:r>
            <a:r>
              <a:rPr lang="en-US" dirty="0">
                <a:latin typeface="-apple-system"/>
              </a:rPr>
              <a:t>/</a:t>
            </a:r>
            <a:r>
              <a:rPr lang="en-US" dirty="0" err="1">
                <a:latin typeface="-apple-system"/>
              </a:rPr>
              <a:t>wx.h</a:t>
            </a:r>
            <a:r>
              <a:rPr lang="en-US" dirty="0">
                <a:latin typeface="-apple-system"/>
              </a:rPr>
              <a:t>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class </a:t>
            </a:r>
            <a:r>
              <a:rPr lang="en-US" dirty="0" err="1">
                <a:latin typeface="-apple-system"/>
              </a:rPr>
              <a:t>MyApp</a:t>
            </a:r>
            <a:r>
              <a:rPr lang="en-US" dirty="0">
                <a:latin typeface="-apple-system"/>
              </a:rPr>
              <a:t> : public </a:t>
            </a:r>
            <a:r>
              <a:rPr lang="en-US" dirty="0" err="1">
                <a:latin typeface="-apple-system"/>
              </a:rPr>
              <a:t>wxApp</a:t>
            </a:r>
            <a:r>
              <a:rPr lang="en-US" dirty="0">
                <a:latin typeface="-apple-system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{public: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virtual bool </a:t>
            </a:r>
            <a:r>
              <a:rPr lang="en-US" dirty="0" err="1">
                <a:latin typeface="-apple-system"/>
              </a:rPr>
              <a:t>OnInit</a:t>
            </a:r>
            <a:r>
              <a:rPr lang="en-US" dirty="0">
                <a:latin typeface="-apple-system"/>
              </a:rPr>
              <a:t>()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{     </a:t>
            </a:r>
            <a:r>
              <a:rPr lang="en-US" dirty="0" err="1">
                <a:latin typeface="-apple-system"/>
              </a:rPr>
              <a:t>wxFrame</a:t>
            </a:r>
            <a:r>
              <a:rPr lang="en-US" dirty="0">
                <a:latin typeface="-apple-system"/>
              </a:rPr>
              <a:t> *frame = new </a:t>
            </a:r>
            <a:r>
              <a:rPr lang="en-US" dirty="0" err="1">
                <a:latin typeface="-apple-system"/>
              </a:rPr>
              <a:t>wxFrame</a:t>
            </a:r>
            <a:r>
              <a:rPr lang="en-US" dirty="0">
                <a:latin typeface="-apple-system"/>
              </a:rPr>
              <a:t>(NULL, </a:t>
            </a:r>
            <a:r>
              <a:rPr lang="en-US" dirty="0" err="1">
                <a:latin typeface="-apple-system"/>
              </a:rPr>
              <a:t>wxID_ANY</a:t>
            </a:r>
            <a:r>
              <a:rPr lang="en-US" dirty="0">
                <a:latin typeface="-apple-system"/>
              </a:rPr>
              <a:t>, "Hello, </a:t>
            </a:r>
            <a:r>
              <a:rPr lang="en-US" dirty="0" err="1">
                <a:latin typeface="-apple-system"/>
              </a:rPr>
              <a:t>wxWidgets</a:t>
            </a:r>
            <a:r>
              <a:rPr lang="en-US" dirty="0">
                <a:latin typeface="-apple-system"/>
              </a:rPr>
              <a:t>!");   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 frame-&gt;Show(true);   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 return true;    }};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latin typeface="-apple-system"/>
              </a:rPr>
              <a:t>wxIMPLEMENT_APP</a:t>
            </a:r>
            <a:r>
              <a:rPr lang="en-US" dirty="0">
                <a:latin typeface="-apple-system"/>
              </a:rPr>
              <a:t>(</a:t>
            </a:r>
            <a:r>
              <a:rPr lang="en-US" dirty="0" err="1">
                <a:latin typeface="-apple-system"/>
              </a:rPr>
              <a:t>MyApp</a:t>
            </a:r>
            <a:r>
              <a:rPr lang="en-US" dirty="0">
                <a:latin typeface="-apple-system"/>
              </a:rPr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030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FFA7A-D34B-408F-AA66-9364189D5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0" dirty="0" err="1">
                <a:effectLst/>
                <a:latin typeface="inherit"/>
              </a:rPr>
              <a:t>wxWidgets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CBD99-33F5-48A6-8D21-6FF9074CC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58218"/>
          </a:xfrm>
        </p:spPr>
        <p:txBody>
          <a:bodyPr>
            <a:normAutofit/>
          </a:bodyPr>
          <a:lstStyle/>
          <a:p>
            <a:pPr algn="l" fontAlgn="base"/>
            <a:r>
              <a:rPr lang="en-US" b="1" i="0" dirty="0">
                <a:effectLst/>
                <a:latin typeface="-apple-system"/>
              </a:rPr>
              <a:t>Steps to Run: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effectLst/>
                <a:latin typeface="inherit"/>
              </a:rPr>
              <a:t>Install </a:t>
            </a:r>
            <a:r>
              <a:rPr lang="en-US" b="0" i="0" dirty="0" err="1">
                <a:effectLst/>
                <a:latin typeface="inherit"/>
              </a:rPr>
              <a:t>wxWidgets</a:t>
            </a:r>
            <a:r>
              <a:rPr lang="en-US" b="0" i="0" dirty="0">
                <a:effectLst/>
                <a:latin typeface="inherit"/>
              </a:rPr>
              <a:t> from </a:t>
            </a:r>
            <a:r>
              <a:rPr lang="en-US" b="0" i="0" u="sng" dirty="0" err="1">
                <a:solidFill>
                  <a:srgbClr val="1783FF"/>
                </a:solidFill>
                <a:effectLst/>
                <a:latin typeface="inherit"/>
                <a:hlinkClick r:id="rId2"/>
              </a:rPr>
              <a:t>wxWidgets</a:t>
            </a:r>
            <a:r>
              <a:rPr lang="en-US" b="0" i="0" u="sng" dirty="0">
                <a:solidFill>
                  <a:srgbClr val="1783FF"/>
                </a:solidFill>
                <a:effectLst/>
                <a:latin typeface="inherit"/>
                <a:hlinkClick r:id="rId2"/>
              </a:rPr>
              <a:t>' official website</a:t>
            </a:r>
            <a:r>
              <a:rPr lang="en-US" b="0" i="0" dirty="0">
                <a:effectLst/>
                <a:latin typeface="inherit"/>
              </a:rPr>
              <a:t>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effectLst/>
                <a:latin typeface="inherit"/>
              </a:rPr>
              <a:t>Set up a project in your preferred IDE.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effectLst/>
                <a:latin typeface="inherit"/>
              </a:rPr>
              <a:t>Compile and run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3411609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FFA7A-D34B-408F-AA66-9364189D5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fontAlgn="base"/>
            <a:r>
              <a:rPr lang="en-US" b="0" i="0" dirty="0">
                <a:effectLst/>
                <a:latin typeface="-apple-system"/>
              </a:rPr>
              <a:t>FLTK (Fast Light Toolkit)</a:t>
            </a:r>
            <a:endParaRPr lang="en-US" b="1" i="0" dirty="0">
              <a:effectLst/>
              <a:latin typeface="-apple-system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CBD99-33F5-48A6-8D21-6FF9074CC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3139"/>
            <a:ext cx="10515600" cy="1603375"/>
          </a:xfrm>
        </p:spPr>
        <p:txBody>
          <a:bodyPr>
            <a:normAutofit/>
          </a:bodyPr>
          <a:lstStyle/>
          <a:p>
            <a:pPr marL="0" indent="0" algn="l" fontAlgn="base">
              <a:buNone/>
            </a:pPr>
            <a:r>
              <a:rPr lang="en-US" b="0" i="0" dirty="0">
                <a:effectLst/>
                <a:latin typeface="-apple-system"/>
              </a:rPr>
              <a:t>FLTK (Fast Light Toolkit) is a lightweight cross-platform C++ GUI library.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91C0424-E3FA-4A7B-984C-6A24493081E1}"/>
              </a:ext>
            </a:extLst>
          </p:cNvPr>
          <p:cNvSpPr txBox="1">
            <a:spLocks/>
          </p:cNvSpPr>
          <p:nvPr/>
        </p:nvSpPr>
        <p:spPr>
          <a:xfrm>
            <a:off x="838200" y="1951348"/>
            <a:ext cx="10515600" cy="464741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#include &lt;FL/</a:t>
            </a:r>
            <a:r>
              <a:rPr lang="en-US" dirty="0" err="1">
                <a:latin typeface="-apple-system"/>
              </a:rPr>
              <a:t>Fl.H</a:t>
            </a:r>
            <a:r>
              <a:rPr lang="en-US" dirty="0">
                <a:latin typeface="-apple-system"/>
              </a:rPr>
              <a:t>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#include &lt;FL/</a:t>
            </a:r>
            <a:r>
              <a:rPr lang="en-US" dirty="0" err="1">
                <a:latin typeface="-apple-system"/>
              </a:rPr>
              <a:t>Fl_Window.H</a:t>
            </a:r>
            <a:r>
              <a:rPr lang="en-US" dirty="0">
                <a:latin typeface="-apple-system"/>
              </a:rPr>
              <a:t>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#include &lt;FL/</a:t>
            </a:r>
            <a:r>
              <a:rPr lang="en-US" dirty="0" err="1">
                <a:latin typeface="-apple-system"/>
              </a:rPr>
              <a:t>Fl_Button.H</a:t>
            </a:r>
            <a:r>
              <a:rPr lang="en-US" dirty="0">
                <a:latin typeface="-apple-system"/>
              </a:rPr>
              <a:t>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void </a:t>
            </a:r>
            <a:r>
              <a:rPr lang="en-US" dirty="0" err="1">
                <a:latin typeface="-apple-system"/>
              </a:rPr>
              <a:t>button_cb</a:t>
            </a:r>
            <a:r>
              <a:rPr lang="en-US" dirty="0">
                <a:latin typeface="-apple-system"/>
              </a:rPr>
              <a:t>(</a:t>
            </a:r>
            <a:r>
              <a:rPr lang="en-US" dirty="0" err="1">
                <a:latin typeface="-apple-system"/>
              </a:rPr>
              <a:t>Fl_Widget</a:t>
            </a:r>
            <a:r>
              <a:rPr lang="en-US" dirty="0">
                <a:latin typeface="-apple-system"/>
              </a:rPr>
              <a:t>*, void*)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 {    </a:t>
            </a:r>
            <a:r>
              <a:rPr lang="en-US" dirty="0" err="1">
                <a:latin typeface="-apple-system"/>
              </a:rPr>
              <a:t>fl_message</a:t>
            </a:r>
            <a:r>
              <a:rPr lang="en-US" dirty="0">
                <a:latin typeface="-apple-system"/>
              </a:rPr>
              <a:t>("Hello, FLTK!");}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int main(int </a:t>
            </a:r>
            <a:r>
              <a:rPr lang="en-US" dirty="0" err="1">
                <a:latin typeface="-apple-system"/>
              </a:rPr>
              <a:t>argc</a:t>
            </a:r>
            <a:r>
              <a:rPr lang="en-US" dirty="0">
                <a:latin typeface="-apple-system"/>
              </a:rPr>
              <a:t>, char **</a:t>
            </a:r>
            <a:r>
              <a:rPr lang="en-US" dirty="0" err="1">
                <a:latin typeface="-apple-system"/>
              </a:rPr>
              <a:t>argv</a:t>
            </a:r>
            <a:r>
              <a:rPr lang="en-US" dirty="0">
                <a:latin typeface="-apple-system"/>
              </a:rPr>
              <a:t>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{    </a:t>
            </a:r>
            <a:r>
              <a:rPr lang="en-US" dirty="0" err="1">
                <a:latin typeface="-apple-system"/>
              </a:rPr>
              <a:t>Fl_Window</a:t>
            </a:r>
            <a:r>
              <a:rPr lang="en-US" dirty="0">
                <a:latin typeface="-apple-system"/>
              </a:rPr>
              <a:t> *window = new </a:t>
            </a:r>
            <a:r>
              <a:rPr lang="en-US" dirty="0" err="1">
                <a:latin typeface="-apple-system"/>
              </a:rPr>
              <a:t>Fl_Window</a:t>
            </a:r>
            <a:r>
              <a:rPr lang="en-US" dirty="0">
                <a:latin typeface="-apple-system"/>
              </a:rPr>
              <a:t>(200, 90, "Hello, FLTK!");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latin typeface="-apple-system"/>
              </a:rPr>
              <a:t>Fl_Button</a:t>
            </a:r>
            <a:r>
              <a:rPr lang="en-US" dirty="0">
                <a:latin typeface="-apple-system"/>
              </a:rPr>
              <a:t> *button = new </a:t>
            </a:r>
            <a:r>
              <a:rPr lang="en-US" dirty="0" err="1">
                <a:latin typeface="-apple-system"/>
              </a:rPr>
              <a:t>Fl_Button</a:t>
            </a:r>
            <a:r>
              <a:rPr lang="en-US" dirty="0">
                <a:latin typeface="-apple-system"/>
              </a:rPr>
              <a:t>(20, 20, 160, 50, "Click me!");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  button-&gt;callback(</a:t>
            </a:r>
            <a:r>
              <a:rPr lang="en-US" dirty="0" err="1">
                <a:latin typeface="-apple-system"/>
              </a:rPr>
              <a:t>button_cb</a:t>
            </a:r>
            <a:r>
              <a:rPr lang="en-US" dirty="0">
                <a:latin typeface="-apple-system"/>
              </a:rPr>
              <a:t>);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  window-&gt;end();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 window-&gt;show(</a:t>
            </a:r>
            <a:r>
              <a:rPr lang="en-US" dirty="0" err="1">
                <a:latin typeface="-apple-system"/>
              </a:rPr>
              <a:t>argc</a:t>
            </a:r>
            <a:r>
              <a:rPr lang="en-US" dirty="0">
                <a:latin typeface="-apple-system"/>
              </a:rPr>
              <a:t>, </a:t>
            </a:r>
            <a:r>
              <a:rPr lang="en-US" dirty="0" err="1">
                <a:latin typeface="-apple-system"/>
              </a:rPr>
              <a:t>argv</a:t>
            </a:r>
            <a:r>
              <a:rPr lang="en-US" dirty="0">
                <a:latin typeface="-apple-system"/>
              </a:rPr>
              <a:t>);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-apple-system"/>
              </a:rPr>
              <a:t> return Fl::run();}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99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FFA7A-D34B-408F-AA66-9364189D5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0" dirty="0">
                <a:effectLst/>
                <a:latin typeface="inherit"/>
              </a:rPr>
              <a:t>FLTK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CBD99-33F5-48A6-8D21-6FF9074CC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58218"/>
          </a:xfrm>
        </p:spPr>
        <p:txBody>
          <a:bodyPr>
            <a:normAutofit/>
          </a:bodyPr>
          <a:lstStyle/>
          <a:p>
            <a:pPr algn="l" fontAlgn="base"/>
            <a:r>
              <a:rPr lang="en-US" b="1" i="0" dirty="0">
                <a:effectLst/>
                <a:latin typeface="-apple-system"/>
              </a:rPr>
              <a:t>Steps to Run: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effectLst/>
                <a:latin typeface="inherit"/>
              </a:rPr>
              <a:t>Install FLTK from </a:t>
            </a:r>
            <a:r>
              <a:rPr lang="en-US" b="0" i="0" u="sng" dirty="0">
                <a:solidFill>
                  <a:srgbClr val="1783FF"/>
                </a:solidFill>
                <a:effectLst/>
                <a:latin typeface="inherit"/>
                <a:hlinkClick r:id="rId2"/>
              </a:rPr>
              <a:t>FLTK's official website</a:t>
            </a:r>
            <a:r>
              <a:rPr lang="en-US" b="0" i="0" dirty="0">
                <a:effectLst/>
                <a:latin typeface="inherit"/>
              </a:rPr>
              <a:t>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effectLst/>
                <a:latin typeface="inherit"/>
              </a:rPr>
              <a:t>Set up a project in your preferred IDE.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effectLst/>
                <a:latin typeface="inherit"/>
              </a:rPr>
              <a:t>Compile and run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444128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FFA7A-D34B-408F-AA66-9364189D5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521"/>
            <a:ext cx="10515600" cy="1325563"/>
          </a:xfrm>
        </p:spPr>
        <p:txBody>
          <a:bodyPr/>
          <a:lstStyle/>
          <a:p>
            <a:pPr algn="ctr" fontAlgn="base"/>
            <a:r>
              <a:rPr lang="en-US" b="0" i="0" dirty="0">
                <a:effectLst/>
                <a:latin typeface="-apple-system"/>
              </a:rPr>
              <a:t>Dear </a:t>
            </a:r>
            <a:r>
              <a:rPr lang="en-US" b="0" i="0" dirty="0" err="1">
                <a:effectLst/>
                <a:latin typeface="-apple-system"/>
              </a:rPr>
              <a:t>ImGui</a:t>
            </a:r>
            <a:endParaRPr lang="en-US" b="1" i="0" dirty="0">
              <a:effectLst/>
              <a:latin typeface="-apple-system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CBD99-33F5-48A6-8D21-6FF9074CC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3139"/>
            <a:ext cx="10515600" cy="1603375"/>
          </a:xfrm>
        </p:spPr>
        <p:txBody>
          <a:bodyPr>
            <a:normAutofit/>
          </a:bodyPr>
          <a:lstStyle/>
          <a:p>
            <a:pPr marL="0" indent="0" algn="l" fontAlgn="base">
              <a:buNone/>
            </a:pPr>
            <a:r>
              <a:rPr lang="en-US" b="0" i="0" dirty="0">
                <a:effectLst/>
                <a:latin typeface="-apple-system"/>
              </a:rPr>
              <a:t>Dear </a:t>
            </a:r>
            <a:r>
              <a:rPr lang="en-US" b="0" i="0" dirty="0" err="1">
                <a:effectLst/>
                <a:latin typeface="-apple-system"/>
              </a:rPr>
              <a:t>ImGui</a:t>
            </a:r>
            <a:r>
              <a:rPr lang="en-US" b="0" i="0" dirty="0">
                <a:effectLst/>
                <a:latin typeface="-apple-system"/>
              </a:rPr>
              <a:t> is a bloat-free graphical user interface library for C++. It is designed to be easy to integrate into existing applications.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91C0424-E3FA-4A7B-984C-6A24493081E1}"/>
              </a:ext>
            </a:extLst>
          </p:cNvPr>
          <p:cNvSpPr txBox="1">
            <a:spLocks/>
          </p:cNvSpPr>
          <p:nvPr/>
        </p:nvSpPr>
        <p:spPr>
          <a:xfrm>
            <a:off x="187751" y="2337847"/>
            <a:ext cx="10515600" cy="3751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251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FFA7A-D34B-408F-AA66-9364189D5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0137"/>
            <a:ext cx="10515600" cy="955253"/>
          </a:xfrm>
        </p:spPr>
        <p:txBody>
          <a:bodyPr/>
          <a:lstStyle/>
          <a:p>
            <a:pPr algn="ctr" fontAlgn="base"/>
            <a:r>
              <a:rPr lang="en-US" b="0" i="0" dirty="0">
                <a:effectLst/>
                <a:latin typeface="-apple-system"/>
              </a:rPr>
              <a:t>Dear </a:t>
            </a:r>
            <a:r>
              <a:rPr lang="en-US" b="0" i="0" dirty="0" err="1">
                <a:effectLst/>
                <a:latin typeface="-apple-system"/>
              </a:rPr>
              <a:t>ImGui</a:t>
            </a:r>
            <a:endParaRPr lang="en-US" b="1" i="0" dirty="0">
              <a:effectLst/>
              <a:latin typeface="-apple-system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91C0424-E3FA-4A7B-984C-6A24493081E1}"/>
              </a:ext>
            </a:extLst>
          </p:cNvPr>
          <p:cNvSpPr txBox="1">
            <a:spLocks/>
          </p:cNvSpPr>
          <p:nvPr/>
        </p:nvSpPr>
        <p:spPr>
          <a:xfrm>
            <a:off x="187751" y="2337847"/>
            <a:ext cx="10515600" cy="3751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D7E2F0-A733-4841-8212-960A90D812E4}"/>
              </a:ext>
            </a:extLst>
          </p:cNvPr>
          <p:cNvSpPr txBox="1"/>
          <p:nvPr/>
        </p:nvSpPr>
        <p:spPr>
          <a:xfrm>
            <a:off x="312889" y="556759"/>
            <a:ext cx="9736083" cy="632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#include "</a:t>
            </a:r>
            <a:r>
              <a:rPr lang="en-US" sz="900" dirty="0" err="1"/>
              <a:t>imgui.h</a:t>
            </a:r>
            <a:r>
              <a:rPr lang="en-US" sz="900" dirty="0"/>
              <a:t>“</a:t>
            </a:r>
          </a:p>
          <a:p>
            <a:r>
              <a:rPr lang="en-US" sz="900" dirty="0"/>
              <a:t>#include "</a:t>
            </a:r>
            <a:r>
              <a:rPr lang="en-US" sz="900" dirty="0" err="1"/>
              <a:t>imgui_impl_glfw.h</a:t>
            </a:r>
            <a:r>
              <a:rPr lang="en-US" sz="900" dirty="0"/>
              <a:t>“</a:t>
            </a:r>
          </a:p>
          <a:p>
            <a:r>
              <a:rPr lang="en-US" sz="900" dirty="0"/>
              <a:t>#include "imgui_impl_opengl3.h“</a:t>
            </a:r>
          </a:p>
          <a:p>
            <a:r>
              <a:rPr lang="en-US" sz="900" dirty="0"/>
              <a:t>#include &lt;GLFW/glfw3.h&gt; // Include </a:t>
            </a:r>
            <a:r>
              <a:rPr lang="en-US" sz="900" dirty="0" err="1"/>
              <a:t>GLFWint</a:t>
            </a:r>
            <a:r>
              <a:rPr lang="en-US" sz="900" dirty="0"/>
              <a:t> </a:t>
            </a:r>
          </a:p>
          <a:p>
            <a:r>
              <a:rPr lang="en-US" sz="900" dirty="0"/>
              <a:t>main(int, char**){    // Setup window  </a:t>
            </a:r>
          </a:p>
          <a:p>
            <a:r>
              <a:rPr lang="en-US" sz="900" dirty="0"/>
              <a:t>  if (!</a:t>
            </a:r>
            <a:r>
              <a:rPr lang="en-US" sz="900" dirty="0" err="1"/>
              <a:t>glfwInit</a:t>
            </a:r>
            <a:r>
              <a:rPr lang="en-US" sz="900" dirty="0"/>
              <a:t>())      </a:t>
            </a:r>
          </a:p>
          <a:p>
            <a:r>
              <a:rPr lang="en-US" sz="900" dirty="0"/>
              <a:t>  return -1;   </a:t>
            </a:r>
          </a:p>
          <a:p>
            <a:r>
              <a:rPr lang="en-US" sz="900" dirty="0"/>
              <a:t> </a:t>
            </a:r>
            <a:r>
              <a:rPr lang="en-US" sz="900" dirty="0" err="1"/>
              <a:t>GLFWwindow</a:t>
            </a:r>
            <a:r>
              <a:rPr lang="en-US" sz="900" dirty="0"/>
              <a:t>* window = </a:t>
            </a:r>
            <a:r>
              <a:rPr lang="en-US" sz="900" dirty="0" err="1"/>
              <a:t>glfwCreateWindow</a:t>
            </a:r>
            <a:r>
              <a:rPr lang="en-US" sz="900" dirty="0"/>
              <a:t>(1280, 720, "Dear </a:t>
            </a:r>
            <a:r>
              <a:rPr lang="en-US" sz="900" dirty="0" err="1"/>
              <a:t>ImGui</a:t>
            </a:r>
            <a:r>
              <a:rPr lang="en-US" sz="900" dirty="0"/>
              <a:t> GLFW Example", NULL, NULL);   </a:t>
            </a:r>
          </a:p>
          <a:p>
            <a:r>
              <a:rPr lang="en-US" sz="900" dirty="0"/>
              <a:t> if (window == NULL)   </a:t>
            </a:r>
          </a:p>
          <a:p>
            <a:r>
              <a:rPr lang="en-US" sz="900" dirty="0"/>
              <a:t> {        </a:t>
            </a:r>
            <a:r>
              <a:rPr lang="en-US" sz="900" dirty="0" err="1"/>
              <a:t>glfwTerminate</a:t>
            </a:r>
            <a:r>
              <a:rPr lang="en-US" sz="900" dirty="0"/>
              <a:t>();        return -1;    }    </a:t>
            </a:r>
          </a:p>
          <a:p>
            <a:r>
              <a:rPr lang="en-US" sz="900" dirty="0" err="1"/>
              <a:t>glfwMakeContextCurrent</a:t>
            </a:r>
            <a:r>
              <a:rPr lang="en-US" sz="900" dirty="0"/>
              <a:t>(window);    </a:t>
            </a:r>
          </a:p>
          <a:p>
            <a:r>
              <a:rPr lang="en-US" sz="900" dirty="0" err="1"/>
              <a:t>glfwSwapInterval</a:t>
            </a:r>
            <a:r>
              <a:rPr lang="en-US" sz="900" dirty="0"/>
              <a:t>(1); // Enable </a:t>
            </a:r>
            <a:r>
              <a:rPr lang="en-US" sz="900" dirty="0" err="1"/>
              <a:t>vsync</a:t>
            </a:r>
            <a:r>
              <a:rPr lang="en-US" sz="900" dirty="0"/>
              <a:t>    </a:t>
            </a:r>
          </a:p>
          <a:p>
            <a:r>
              <a:rPr lang="en-US" sz="900" dirty="0"/>
              <a:t>// Setup Dear </a:t>
            </a:r>
            <a:r>
              <a:rPr lang="en-US" sz="900" dirty="0" err="1"/>
              <a:t>ImGui</a:t>
            </a:r>
            <a:r>
              <a:rPr lang="en-US" sz="900" dirty="0"/>
              <a:t> context    </a:t>
            </a:r>
          </a:p>
          <a:p>
            <a:r>
              <a:rPr lang="en-US" sz="900" dirty="0"/>
              <a:t>IMGUI_CHECKVERSION();   </a:t>
            </a:r>
          </a:p>
          <a:p>
            <a:r>
              <a:rPr lang="en-US" sz="900" dirty="0"/>
              <a:t> </a:t>
            </a:r>
            <a:r>
              <a:rPr lang="en-US" sz="900" dirty="0" err="1"/>
              <a:t>ImGui</a:t>
            </a:r>
            <a:r>
              <a:rPr lang="en-US" sz="900" dirty="0"/>
              <a:t>::</a:t>
            </a:r>
            <a:r>
              <a:rPr lang="en-US" sz="900" dirty="0" err="1"/>
              <a:t>CreateContext</a:t>
            </a:r>
            <a:r>
              <a:rPr lang="en-US" sz="900" dirty="0"/>
              <a:t>();   </a:t>
            </a:r>
          </a:p>
          <a:p>
            <a:r>
              <a:rPr lang="en-US" sz="900" dirty="0"/>
              <a:t> </a:t>
            </a:r>
            <a:r>
              <a:rPr lang="en-US" sz="900" dirty="0" err="1"/>
              <a:t>ImGuiIO</a:t>
            </a:r>
            <a:r>
              <a:rPr lang="en-US" sz="900" dirty="0"/>
              <a:t>&amp; io = </a:t>
            </a:r>
            <a:r>
              <a:rPr lang="en-US" sz="900" dirty="0" err="1"/>
              <a:t>ImGui</a:t>
            </a:r>
            <a:r>
              <a:rPr lang="en-US" sz="900" dirty="0"/>
              <a:t>::</a:t>
            </a:r>
            <a:r>
              <a:rPr lang="en-US" sz="900" dirty="0" err="1"/>
              <a:t>GetIO</a:t>
            </a:r>
            <a:r>
              <a:rPr lang="en-US" sz="900" dirty="0"/>
              <a:t>(); (void)io;    // Setup Dear </a:t>
            </a:r>
            <a:r>
              <a:rPr lang="en-US" sz="900" dirty="0" err="1"/>
              <a:t>ImGui</a:t>
            </a:r>
            <a:r>
              <a:rPr lang="en-US" sz="900" dirty="0"/>
              <a:t> style   </a:t>
            </a:r>
          </a:p>
          <a:p>
            <a:r>
              <a:rPr lang="en-US" sz="900" dirty="0"/>
              <a:t> </a:t>
            </a:r>
            <a:r>
              <a:rPr lang="en-US" sz="900" dirty="0" err="1"/>
              <a:t>ImGui</a:t>
            </a:r>
            <a:r>
              <a:rPr lang="en-US" sz="900" dirty="0"/>
              <a:t>::</a:t>
            </a:r>
            <a:r>
              <a:rPr lang="en-US" sz="900" dirty="0" err="1"/>
              <a:t>StyleColorsDark</a:t>
            </a:r>
            <a:r>
              <a:rPr lang="en-US" sz="900" dirty="0"/>
              <a:t>();    // Setup Platform/Renderer backends   </a:t>
            </a:r>
          </a:p>
          <a:p>
            <a:r>
              <a:rPr lang="en-US" sz="900" dirty="0"/>
              <a:t> </a:t>
            </a:r>
            <a:r>
              <a:rPr lang="en-US" sz="900" dirty="0" err="1"/>
              <a:t>ImGui_ImplGlfw_InitForOpenGL</a:t>
            </a:r>
            <a:r>
              <a:rPr lang="en-US" sz="900" dirty="0"/>
              <a:t>(window, true);   </a:t>
            </a:r>
          </a:p>
          <a:p>
            <a:r>
              <a:rPr lang="en-US" sz="900" dirty="0"/>
              <a:t> ImGui_ImplOpenGL3_Init("#version 150");    // Main loop    </a:t>
            </a:r>
          </a:p>
          <a:p>
            <a:r>
              <a:rPr lang="en-US" sz="900" dirty="0"/>
              <a:t>while (!</a:t>
            </a:r>
            <a:r>
              <a:rPr lang="en-US" sz="900" dirty="0" err="1"/>
              <a:t>glfwWindowShouldClose</a:t>
            </a:r>
            <a:r>
              <a:rPr lang="en-US" sz="900" dirty="0"/>
              <a:t>(window))    {        </a:t>
            </a:r>
          </a:p>
          <a:p>
            <a:r>
              <a:rPr lang="en-US" sz="900" dirty="0" err="1"/>
              <a:t>glfwPollEvents</a:t>
            </a:r>
            <a:r>
              <a:rPr lang="en-US" sz="900" dirty="0"/>
              <a:t>();        // Start the Dear </a:t>
            </a:r>
            <a:r>
              <a:rPr lang="en-US" sz="900" dirty="0" err="1"/>
              <a:t>ImGui</a:t>
            </a:r>
            <a:r>
              <a:rPr lang="en-US" sz="900" dirty="0"/>
              <a:t> frame       </a:t>
            </a:r>
          </a:p>
          <a:p>
            <a:r>
              <a:rPr lang="en-US" sz="900" dirty="0"/>
              <a:t> ImGui_ImplOpenGL3_NewFrame();      </a:t>
            </a:r>
          </a:p>
          <a:p>
            <a:r>
              <a:rPr lang="en-US" sz="900" dirty="0"/>
              <a:t>  </a:t>
            </a:r>
            <a:r>
              <a:rPr lang="en-US" sz="900" dirty="0" err="1"/>
              <a:t>ImGui_ImplGlfw_NewFrame</a:t>
            </a:r>
            <a:r>
              <a:rPr lang="en-US" sz="900" dirty="0"/>
              <a:t>();        </a:t>
            </a:r>
          </a:p>
          <a:p>
            <a:r>
              <a:rPr lang="en-US" sz="900" dirty="0" err="1"/>
              <a:t>ImGui</a:t>
            </a:r>
            <a:r>
              <a:rPr lang="en-US" sz="900" dirty="0"/>
              <a:t>::</a:t>
            </a:r>
            <a:r>
              <a:rPr lang="en-US" sz="900" dirty="0" err="1"/>
              <a:t>NewFrame</a:t>
            </a:r>
            <a:r>
              <a:rPr lang="en-US" sz="900" dirty="0"/>
              <a:t>();        // 2. Show a simple window that we create ourselves. We use a Begin/End pair to create a named window.    </a:t>
            </a:r>
          </a:p>
          <a:p>
            <a:r>
              <a:rPr lang="en-US" sz="900" dirty="0"/>
              <a:t>    {            static float f = 0.0f;           </a:t>
            </a:r>
          </a:p>
          <a:p>
            <a:r>
              <a:rPr lang="en-US" sz="900" dirty="0"/>
              <a:t> </a:t>
            </a:r>
            <a:r>
              <a:rPr lang="en-US" sz="900" dirty="0" err="1"/>
              <a:t>ImGui</a:t>
            </a:r>
            <a:r>
              <a:rPr lang="en-US" sz="900" dirty="0"/>
              <a:t>::Begin("Hello, world!");                          // Create a window called "Hello, world!" and append into it.       </a:t>
            </a:r>
          </a:p>
          <a:p>
            <a:r>
              <a:rPr lang="en-US" sz="900" dirty="0"/>
              <a:t>     </a:t>
            </a:r>
            <a:r>
              <a:rPr lang="en-US" sz="900" dirty="0" err="1"/>
              <a:t>ImGui</a:t>
            </a:r>
            <a:r>
              <a:rPr lang="en-US" sz="900" dirty="0"/>
              <a:t>::Text("This is some useful text.");               // Display some text (you can use a format strings too)           </a:t>
            </a:r>
          </a:p>
          <a:p>
            <a:r>
              <a:rPr lang="en-US" sz="900" dirty="0"/>
              <a:t> </a:t>
            </a:r>
            <a:r>
              <a:rPr lang="en-US" sz="900" dirty="0" err="1"/>
              <a:t>ImGui</a:t>
            </a:r>
            <a:r>
              <a:rPr lang="en-US" sz="900" dirty="0"/>
              <a:t>::Checkbox("Demo Window", &amp;</a:t>
            </a:r>
            <a:r>
              <a:rPr lang="en-US" sz="900" dirty="0" err="1"/>
              <a:t>show_demo_window</a:t>
            </a:r>
            <a:r>
              <a:rPr lang="en-US" sz="900" dirty="0"/>
              <a:t>);      // Edit bools storing our window open/close state          </a:t>
            </a:r>
          </a:p>
          <a:p>
            <a:r>
              <a:rPr lang="en-US" sz="900" dirty="0"/>
              <a:t>  </a:t>
            </a:r>
            <a:r>
              <a:rPr lang="en-US" sz="900" dirty="0" err="1"/>
              <a:t>ImGui</a:t>
            </a:r>
            <a:r>
              <a:rPr lang="en-US" sz="900" dirty="0"/>
              <a:t>::Checkbox("Another Window", &amp;</a:t>
            </a:r>
            <a:r>
              <a:rPr lang="en-US" sz="900" dirty="0" err="1"/>
              <a:t>show_another_window</a:t>
            </a:r>
            <a:r>
              <a:rPr lang="en-US" sz="900" dirty="0"/>
              <a:t>);          </a:t>
            </a:r>
          </a:p>
          <a:p>
            <a:r>
              <a:rPr lang="en-US" sz="900" dirty="0"/>
              <a:t>  </a:t>
            </a:r>
            <a:r>
              <a:rPr lang="en-US" sz="900" dirty="0" err="1"/>
              <a:t>ImGui</a:t>
            </a:r>
            <a:r>
              <a:rPr lang="en-US" sz="900" dirty="0"/>
              <a:t>::</a:t>
            </a:r>
            <a:r>
              <a:rPr lang="en-US" sz="900" dirty="0" err="1"/>
              <a:t>SliderFloat</a:t>
            </a:r>
            <a:r>
              <a:rPr lang="en-US" sz="900" dirty="0"/>
              <a:t>("float", &amp;f, 0.0f, 1.0f);            // Edit 1 float using a slider from 0.0f to 1.0f            </a:t>
            </a:r>
          </a:p>
          <a:p>
            <a:r>
              <a:rPr lang="en-US" sz="900" dirty="0" err="1"/>
              <a:t>ImGui</a:t>
            </a:r>
            <a:r>
              <a:rPr lang="en-US" sz="900" dirty="0"/>
              <a:t>::ColorEdit3("clear color", </a:t>
            </a:r>
            <a:r>
              <a:rPr lang="en-US" sz="900" dirty="0" err="1"/>
              <a:t>clear_color</a:t>
            </a:r>
            <a:r>
              <a:rPr lang="en-US" sz="900" dirty="0"/>
              <a:t>);          // Edit 3 floats representing a color           </a:t>
            </a:r>
          </a:p>
          <a:p>
            <a:r>
              <a:rPr lang="en-US" sz="900" dirty="0"/>
              <a:t> if (</a:t>
            </a:r>
            <a:r>
              <a:rPr lang="en-US" sz="900" dirty="0" err="1"/>
              <a:t>ImGui</a:t>
            </a:r>
            <a:r>
              <a:rPr lang="en-US" sz="900" dirty="0"/>
              <a:t>::Button("Button"))                            // Buttons return true when clicked (most widgets return true when edited/activated)              </a:t>
            </a:r>
          </a:p>
          <a:p>
            <a:r>
              <a:rPr lang="en-US" sz="900" dirty="0"/>
              <a:t>  counter++;           </a:t>
            </a:r>
          </a:p>
          <a:p>
            <a:r>
              <a:rPr lang="en-US" sz="900" dirty="0"/>
              <a:t> </a:t>
            </a:r>
            <a:r>
              <a:rPr lang="en-US" sz="900" dirty="0" err="1"/>
              <a:t>ImGui</a:t>
            </a:r>
            <a:r>
              <a:rPr lang="en-US" sz="900" dirty="0"/>
              <a:t>::</a:t>
            </a:r>
            <a:r>
              <a:rPr lang="en-US" sz="900" dirty="0" err="1"/>
              <a:t>SameLine</a:t>
            </a:r>
            <a:r>
              <a:rPr lang="en-US" sz="900" dirty="0"/>
              <a:t>();          </a:t>
            </a:r>
          </a:p>
          <a:p>
            <a:r>
              <a:rPr lang="en-US" sz="900" dirty="0"/>
              <a:t>  </a:t>
            </a:r>
            <a:r>
              <a:rPr lang="en-US" sz="900" dirty="0" err="1"/>
              <a:t>ImGui</a:t>
            </a:r>
            <a:r>
              <a:rPr lang="en-US" sz="900" dirty="0"/>
              <a:t>::Text("counter = %d", counter);         </a:t>
            </a:r>
          </a:p>
          <a:p>
            <a:r>
              <a:rPr lang="en-US" sz="900" dirty="0"/>
              <a:t>   </a:t>
            </a:r>
            <a:r>
              <a:rPr lang="en-US" sz="900" dirty="0" err="1"/>
              <a:t>ImGui</a:t>
            </a:r>
            <a:r>
              <a:rPr lang="en-US" sz="900" dirty="0"/>
              <a:t>::Text("Application average %.3f </a:t>
            </a:r>
            <a:r>
              <a:rPr lang="en-US" sz="900" dirty="0" err="1"/>
              <a:t>ms</a:t>
            </a:r>
            <a:r>
              <a:rPr lang="en-US" sz="900" dirty="0"/>
              <a:t>/frame (%.1f FPS)", 1000.0f / </a:t>
            </a:r>
            <a:r>
              <a:rPr lang="en-US" sz="900" dirty="0" err="1"/>
              <a:t>ImGui</a:t>
            </a:r>
            <a:r>
              <a:rPr lang="en-US" sz="900" dirty="0"/>
              <a:t>::</a:t>
            </a:r>
            <a:r>
              <a:rPr lang="en-US" sz="900" dirty="0" err="1"/>
              <a:t>GetIO</a:t>
            </a:r>
            <a:r>
              <a:rPr lang="en-US" sz="900" dirty="0"/>
              <a:t>().Framerate, </a:t>
            </a:r>
            <a:r>
              <a:rPr lang="en-US" sz="900" dirty="0" err="1"/>
              <a:t>ImGui</a:t>
            </a:r>
            <a:r>
              <a:rPr lang="en-US" sz="900" dirty="0"/>
              <a:t>::</a:t>
            </a:r>
            <a:r>
              <a:rPr lang="en-US" sz="900" dirty="0" err="1"/>
              <a:t>GetIO</a:t>
            </a:r>
            <a:r>
              <a:rPr lang="en-US" sz="900" dirty="0"/>
              <a:t>().Framerate);     </a:t>
            </a:r>
          </a:p>
          <a:p>
            <a:r>
              <a:rPr lang="en-US" sz="900" dirty="0"/>
              <a:t>       </a:t>
            </a:r>
            <a:r>
              <a:rPr lang="en-US" sz="900" dirty="0" err="1"/>
              <a:t>ImGui</a:t>
            </a:r>
            <a:r>
              <a:rPr lang="en-US" sz="900" dirty="0"/>
              <a:t>::End();        }        // Rendering        </a:t>
            </a:r>
            <a:r>
              <a:rPr lang="en-US" sz="900" dirty="0" err="1"/>
              <a:t>ImGui</a:t>
            </a:r>
            <a:r>
              <a:rPr lang="en-US" sz="900" dirty="0"/>
              <a:t>::Render();      </a:t>
            </a:r>
          </a:p>
          <a:p>
            <a:r>
              <a:rPr lang="en-US" sz="900" dirty="0"/>
              <a:t>  int </a:t>
            </a:r>
            <a:r>
              <a:rPr lang="en-US" sz="900" dirty="0" err="1"/>
              <a:t>display_w</a:t>
            </a:r>
            <a:r>
              <a:rPr lang="en-US" sz="900" dirty="0"/>
              <a:t>, </a:t>
            </a:r>
            <a:r>
              <a:rPr lang="en-US" sz="900" dirty="0" err="1"/>
              <a:t>display_h</a:t>
            </a:r>
            <a:r>
              <a:rPr lang="en-US" sz="900" dirty="0"/>
              <a:t>;     </a:t>
            </a:r>
          </a:p>
          <a:p>
            <a:r>
              <a:rPr lang="en-US" sz="900" dirty="0"/>
              <a:t>   </a:t>
            </a:r>
            <a:r>
              <a:rPr lang="en-US" sz="900" dirty="0" err="1"/>
              <a:t>glfwGetFramebufferSize</a:t>
            </a:r>
            <a:r>
              <a:rPr lang="en-US" sz="900" dirty="0"/>
              <a:t>(window, &amp;</a:t>
            </a:r>
            <a:r>
              <a:rPr lang="en-US" sz="900" dirty="0" err="1"/>
              <a:t>display_w</a:t>
            </a:r>
            <a:r>
              <a:rPr lang="en-US" sz="900" dirty="0"/>
              <a:t>, &amp;</a:t>
            </a:r>
            <a:r>
              <a:rPr lang="en-US" sz="900" dirty="0" err="1"/>
              <a:t>display_h</a:t>
            </a:r>
            <a:r>
              <a:rPr lang="en-US" sz="900" dirty="0"/>
              <a:t>);    </a:t>
            </a:r>
          </a:p>
          <a:p>
            <a:r>
              <a:rPr lang="en-US" sz="900" dirty="0"/>
              <a:t>    </a:t>
            </a:r>
            <a:r>
              <a:rPr lang="en-US" sz="900" dirty="0" err="1"/>
              <a:t>glViewport</a:t>
            </a:r>
            <a:r>
              <a:rPr lang="en-US" sz="900" dirty="0"/>
              <a:t>(0, 0, </a:t>
            </a:r>
            <a:r>
              <a:rPr lang="en-US" sz="900" dirty="0" err="1"/>
              <a:t>display_w</a:t>
            </a:r>
            <a:r>
              <a:rPr lang="en-US" sz="900" dirty="0"/>
              <a:t>, </a:t>
            </a:r>
            <a:r>
              <a:rPr lang="en-US" sz="900" dirty="0" err="1"/>
              <a:t>display_h</a:t>
            </a:r>
            <a:r>
              <a:rPr lang="en-US" sz="900" dirty="0"/>
              <a:t>);      </a:t>
            </a:r>
          </a:p>
          <a:p>
            <a:r>
              <a:rPr lang="en-US" sz="900" dirty="0"/>
              <a:t>  </a:t>
            </a:r>
            <a:r>
              <a:rPr lang="en-US" sz="900" dirty="0" err="1"/>
              <a:t>glClearColor</a:t>
            </a:r>
            <a:r>
              <a:rPr lang="en-US" sz="900" dirty="0"/>
              <a:t>(</a:t>
            </a:r>
            <a:r>
              <a:rPr lang="en-US" sz="900" dirty="0" err="1"/>
              <a:t>clear_color</a:t>
            </a:r>
            <a:r>
              <a:rPr lang="en-US" sz="900" dirty="0"/>
              <a:t>[0], </a:t>
            </a:r>
            <a:r>
              <a:rPr lang="en-US" sz="900" dirty="0" err="1"/>
              <a:t>clear_color</a:t>
            </a:r>
            <a:r>
              <a:rPr lang="en-US" sz="900" dirty="0"/>
              <a:t>[1], </a:t>
            </a:r>
            <a:r>
              <a:rPr lang="en-US" sz="900" dirty="0" err="1"/>
              <a:t>clear_color</a:t>
            </a:r>
            <a:r>
              <a:rPr lang="en-US" sz="900" dirty="0"/>
              <a:t>[2], </a:t>
            </a:r>
            <a:r>
              <a:rPr lang="en-US" sz="900" dirty="0" err="1"/>
              <a:t>clear_color</a:t>
            </a:r>
            <a:r>
              <a:rPr lang="en-US" sz="900" dirty="0"/>
              <a:t>[3]);       </a:t>
            </a:r>
          </a:p>
          <a:p>
            <a:r>
              <a:rPr lang="en-US" sz="900" dirty="0"/>
              <a:t> </a:t>
            </a:r>
            <a:r>
              <a:rPr lang="en-US" sz="900" dirty="0" err="1"/>
              <a:t>glClear</a:t>
            </a:r>
            <a:r>
              <a:rPr lang="en-US" sz="900" dirty="0"/>
              <a:t>(GL_COLOR_BUFFER_BIT);        ImGui_ImplOpenGL3_RenderDrawData(</a:t>
            </a:r>
            <a:r>
              <a:rPr lang="en-US" sz="900" dirty="0" err="1"/>
              <a:t>ImGui</a:t>
            </a:r>
            <a:r>
              <a:rPr lang="en-US" sz="900" dirty="0"/>
              <a:t>::</a:t>
            </a:r>
            <a:r>
              <a:rPr lang="en-US" sz="900" dirty="0" err="1"/>
              <a:t>GetDrawData</a:t>
            </a:r>
            <a:r>
              <a:rPr lang="en-US" sz="900" dirty="0"/>
              <a:t>());      </a:t>
            </a:r>
          </a:p>
          <a:p>
            <a:r>
              <a:rPr lang="en-US" sz="900" dirty="0"/>
              <a:t>  </a:t>
            </a:r>
            <a:r>
              <a:rPr lang="en-US" sz="900" dirty="0" err="1"/>
              <a:t>glfwSwapBuffers</a:t>
            </a:r>
            <a:r>
              <a:rPr lang="en-US" sz="900" dirty="0"/>
              <a:t>(window);    }    // Cleanup    ImGui_ImplOpenGL3_Shutdown();    </a:t>
            </a:r>
            <a:r>
              <a:rPr lang="en-US" sz="900" dirty="0" err="1"/>
              <a:t>ImGui_ImplGlfw_Shutdown</a:t>
            </a:r>
            <a:r>
              <a:rPr lang="en-US" sz="900" dirty="0"/>
              <a:t>();  </a:t>
            </a:r>
          </a:p>
          <a:p>
            <a:r>
              <a:rPr lang="en-US" sz="900" dirty="0"/>
              <a:t>  </a:t>
            </a:r>
            <a:r>
              <a:rPr lang="en-US" sz="900" dirty="0" err="1"/>
              <a:t>ImGui</a:t>
            </a:r>
            <a:r>
              <a:rPr lang="en-US" sz="900" dirty="0"/>
              <a:t>::</a:t>
            </a:r>
            <a:r>
              <a:rPr lang="en-US" sz="900" dirty="0" err="1"/>
              <a:t>DestroyContext</a:t>
            </a:r>
            <a:r>
              <a:rPr lang="en-US" sz="900" dirty="0"/>
              <a:t>();    </a:t>
            </a:r>
            <a:r>
              <a:rPr lang="en-US" sz="900" dirty="0" err="1"/>
              <a:t>glfwDestroyWindow</a:t>
            </a:r>
            <a:r>
              <a:rPr lang="en-US" sz="900" dirty="0"/>
              <a:t>(window);    </a:t>
            </a:r>
            <a:r>
              <a:rPr lang="en-US" sz="900" dirty="0" err="1"/>
              <a:t>glfwTerminate</a:t>
            </a:r>
            <a:r>
              <a:rPr lang="en-US" sz="900" dirty="0"/>
              <a:t>(); </a:t>
            </a:r>
          </a:p>
          <a:p>
            <a:r>
              <a:rPr lang="en-US" sz="900" dirty="0"/>
              <a:t>   return 0;}</a:t>
            </a:r>
          </a:p>
        </p:txBody>
      </p:sp>
    </p:spTree>
    <p:extLst>
      <p:ext uri="{BB962C8B-B14F-4D97-AF65-F5344CB8AC3E}">
        <p14:creationId xmlns:p14="http://schemas.microsoft.com/office/powerpoint/2010/main" val="2863149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FFA7A-D34B-408F-AA66-9364189D5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effectLst/>
                <a:latin typeface="inherit"/>
              </a:rPr>
              <a:t>Dear </a:t>
            </a:r>
            <a:r>
              <a:rPr lang="en-US" b="0" i="0" dirty="0" err="1">
                <a:effectLst/>
                <a:latin typeface="inherit"/>
              </a:rPr>
              <a:t>ImGui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CBD99-33F5-48A6-8D21-6FF9074CC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58218"/>
          </a:xfrm>
        </p:spPr>
        <p:txBody>
          <a:bodyPr>
            <a:normAutofit/>
          </a:bodyPr>
          <a:lstStyle/>
          <a:p>
            <a:pPr algn="l" fontAlgn="base"/>
            <a:r>
              <a:rPr lang="en-US" b="1" i="0" dirty="0">
                <a:effectLst/>
                <a:latin typeface="-apple-system"/>
              </a:rPr>
              <a:t>Steps to Run: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effectLst/>
                <a:latin typeface="inherit"/>
              </a:rPr>
              <a:t>Install Dear </a:t>
            </a:r>
            <a:r>
              <a:rPr lang="en-US" b="0" i="0" dirty="0" err="1">
                <a:effectLst/>
                <a:latin typeface="inherit"/>
              </a:rPr>
              <a:t>ImGui</a:t>
            </a:r>
            <a:r>
              <a:rPr lang="en-US" b="0" i="0" dirty="0">
                <a:effectLst/>
                <a:latin typeface="inherit"/>
              </a:rPr>
              <a:t> from </a:t>
            </a:r>
            <a:r>
              <a:rPr lang="en-US" b="0" i="0" u="sng" dirty="0">
                <a:solidFill>
                  <a:srgbClr val="1783FF"/>
                </a:solidFill>
                <a:effectLst/>
                <a:latin typeface="inherit"/>
                <a:hlinkClick r:id="rId2"/>
              </a:rPr>
              <a:t>Dear </a:t>
            </a:r>
            <a:r>
              <a:rPr lang="en-US" b="0" i="0" u="sng" dirty="0" err="1">
                <a:solidFill>
                  <a:srgbClr val="1783FF"/>
                </a:solidFill>
                <a:effectLst/>
                <a:latin typeface="inherit"/>
                <a:hlinkClick r:id="rId2"/>
              </a:rPr>
              <a:t>ImGui's</a:t>
            </a:r>
            <a:r>
              <a:rPr lang="en-US" b="0" i="0" u="sng" dirty="0">
                <a:solidFill>
                  <a:srgbClr val="1783FF"/>
                </a:solidFill>
                <a:effectLst/>
                <a:latin typeface="inherit"/>
                <a:hlinkClick r:id="rId2"/>
              </a:rPr>
              <a:t> GitHub repository</a:t>
            </a:r>
            <a:r>
              <a:rPr lang="en-US" b="0" i="0" dirty="0">
                <a:effectLst/>
                <a:latin typeface="inherit"/>
              </a:rPr>
              <a:t>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effectLst/>
                <a:latin typeface="inherit"/>
              </a:rPr>
              <a:t>Set up a project in your preferred IDE.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effectLst/>
                <a:latin typeface="inherit"/>
              </a:rPr>
              <a:t>Compile and run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610849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1234</TotalTime>
  <Words>1056</Words>
  <Application>Microsoft Office PowerPoint</Application>
  <PresentationFormat>Widescreen</PresentationFormat>
  <Paragraphs>105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-apple-system</vt:lpstr>
      <vt:lpstr>Arial</vt:lpstr>
      <vt:lpstr>Calibri</vt:lpstr>
      <vt:lpstr>Calibri Light</vt:lpstr>
      <vt:lpstr>inherit</vt:lpstr>
      <vt:lpstr>Office Theme</vt:lpstr>
      <vt:lpstr>GUI Using C++</vt:lpstr>
      <vt:lpstr>Qt</vt:lpstr>
      <vt:lpstr>Qt</vt:lpstr>
      <vt:lpstr>wxWidgets</vt:lpstr>
      <vt:lpstr>wxWidgets</vt:lpstr>
      <vt:lpstr>FLTK (Fast Light Toolkit)</vt:lpstr>
      <vt:lpstr>FLTK</vt:lpstr>
      <vt:lpstr>Dear ImGui</vt:lpstr>
      <vt:lpstr>Dear ImGui</vt:lpstr>
      <vt:lpstr>Dear ImGui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Qt</dc:title>
  <dc:creator>Muhammad Ahmad Nawaz Lecturer FCSE</dc:creator>
  <cp:lastModifiedBy>Muhammad Ahmad Nawaz Lecturer FCSE</cp:lastModifiedBy>
  <cp:revision>15</cp:revision>
  <dcterms:created xsi:type="dcterms:W3CDTF">2025-04-15T09:34:11Z</dcterms:created>
  <dcterms:modified xsi:type="dcterms:W3CDTF">2025-04-16T06:08:47Z</dcterms:modified>
</cp:coreProperties>
</file>