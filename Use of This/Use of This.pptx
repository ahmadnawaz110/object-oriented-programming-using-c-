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3" r:id="rId4"/>
    <p:sldId id="264" r:id="rId5"/>
    <p:sldId id="258" r:id="rId6"/>
    <p:sldId id="269" r:id="rId7"/>
    <p:sldId id="268" r:id="rId8"/>
    <p:sldId id="265" r:id="rId9"/>
    <p:sldId id="259" r:id="rId10"/>
    <p:sldId id="266" r:id="rId11"/>
    <p:sldId id="260" r:id="rId12"/>
    <p:sldId id="267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899" autoAdjust="0"/>
  </p:normalViewPr>
  <p:slideViewPr>
    <p:cSldViewPr snapToGrid="0">
      <p:cViewPr varScale="1">
        <p:scale>
          <a:sx n="68" d="100"/>
          <a:sy n="68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3C677-C4FE-4EC3-B219-122CF8379C69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8CA4D-59F9-4328-9A31-7FD5822C7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8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In this example, </a:t>
            </a:r>
            <a:r>
              <a:rPr lang="en-US" dirty="0"/>
              <a:t>this-&gt;x</a:t>
            </a: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 is used to refer to the class member </a:t>
            </a:r>
            <a:r>
              <a:rPr lang="en-US" dirty="0"/>
              <a:t>x</a:t>
            </a: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, while the parameter </a:t>
            </a:r>
            <a:r>
              <a:rPr lang="en-US" dirty="0"/>
              <a:t>x</a:t>
            </a: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 is used for the value passed into the functions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8CA4D-59F9-4328-9A31-7FD5822C78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634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In this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this-&gt;value refers to the class member value, distinguishing it from the parameter value in </a:t>
            </a:r>
            <a:r>
              <a:rPr lang="en-US" dirty="0" err="1"/>
              <a:t>setValue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is implicitly passed to member functions to operate on the current object.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8CA4D-59F9-4328-9A31-7FD5822C78E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46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Here, this-&gt;name explicitly refers to the class’s name member, distinguishing it from the name parameter. Without this, name = name would just assign the parameter to itself, leaving the member variable unchanged.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8CA4D-59F9-4328-9A31-7FD5822C78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08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this-&gt;x refers to the x of the calling object (p1), while </a:t>
            </a:r>
            <a:r>
              <a:rPr lang="en-US" dirty="0" err="1"/>
              <a:t>other.x</a:t>
            </a:r>
            <a:r>
              <a:rPr lang="en-US" dirty="0"/>
              <a:t> refers to the x of the passed object (p2).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8CA4D-59F9-4328-9A31-7FD5822C78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0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return width would work just as well, this-&gt;width makes it crystal clear that we’re accessing the object’s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8CA4D-59F9-4328-9A31-7FD5822C78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1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Here, </a:t>
            </a:r>
            <a:r>
              <a:rPr lang="en-US" b="0" i="0" dirty="0" err="1">
                <a:solidFill>
                  <a:srgbClr val="2C2C36"/>
                </a:solidFill>
                <a:effectLst/>
                <a:latin typeface="system-ui"/>
              </a:rPr>
              <a:t>setValue</a:t>
            </a: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 returns *this, allowing the caller to chain additional method calls like </a:t>
            </a:r>
            <a:r>
              <a:rPr lang="en-US" b="0" i="0" dirty="0" err="1">
                <a:solidFill>
                  <a:srgbClr val="2C2C36"/>
                </a:solidFill>
                <a:effectLst/>
                <a:latin typeface="system-ui"/>
              </a:rPr>
              <a:t>printValue</a:t>
            </a: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().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8CA4D-59F9-4328-9A31-7FD5822C78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56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returning *this (dereferencing the this pointer), increment() returns a reference to the current object, allowing calls like </a:t>
            </a:r>
            <a:r>
              <a:rPr lang="en-US" dirty="0" err="1"/>
              <a:t>c.increment</a:t>
            </a:r>
            <a:r>
              <a:rPr lang="en-US" dirty="0"/>
              <a:t>().increment().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8CA4D-59F9-4328-9A31-7FD5822C78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23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In this case, this is passed to </a:t>
            </a:r>
            <a:r>
              <a:rPr lang="en-US" b="0" i="0" dirty="0" err="1">
                <a:solidFill>
                  <a:srgbClr val="2C2C36"/>
                </a:solidFill>
                <a:effectLst/>
                <a:latin typeface="system-ui"/>
              </a:rPr>
              <a:t>externalFunction</a:t>
            </a: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, which accepts a pointer to a </a:t>
            </a:r>
            <a:r>
              <a:rPr lang="en-US" b="0" i="0" dirty="0" err="1">
                <a:solidFill>
                  <a:srgbClr val="2C2C36"/>
                </a:solidFill>
                <a:effectLst/>
                <a:latin typeface="system-ui"/>
              </a:rPr>
              <a:t>MyClass</a:t>
            </a: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8CA4D-59F9-4328-9A31-7FD5822C78E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92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this is passed as a pointer to the </a:t>
            </a:r>
            <a:r>
              <a:rPr lang="en-US" dirty="0" err="1"/>
              <a:t>printObject</a:t>
            </a:r>
            <a:r>
              <a:rPr lang="en-US" dirty="0"/>
              <a:t> function, which can then work with the current object’s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8CA4D-59F9-4328-9A31-7FD5822C78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72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r>
              <a:rPr lang="en-US" dirty="0"/>
              <a:t>In the overloaded assignment operator (operator=), this is compared to the address of the other object to ensure that the object is not assigned to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8CA4D-59F9-4328-9A31-7FD5822C78E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64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if (this == &amp;other) check prevents issues like deleting data before copying it in a self-assignment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8CA4D-59F9-4328-9A31-7FD5822C78E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271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 startAt="2"/>
            </a:pP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Here, </a:t>
            </a:r>
            <a:r>
              <a:rPr lang="en-US" b="0" i="0" dirty="0" err="1">
                <a:solidFill>
                  <a:srgbClr val="2C2C36"/>
                </a:solidFill>
                <a:effectLst/>
                <a:latin typeface="system-ui"/>
              </a:rPr>
              <a:t>setValue</a:t>
            </a: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 returns *this, allowing the caller to chain additional method calls like </a:t>
            </a:r>
            <a:r>
              <a:rPr lang="en-US" b="0" i="0" dirty="0" err="1">
                <a:solidFill>
                  <a:srgbClr val="2C2C36"/>
                </a:solidFill>
                <a:effectLst/>
                <a:latin typeface="system-ui"/>
              </a:rPr>
              <a:t>printValue</a:t>
            </a: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().</a:t>
            </a:r>
          </a:p>
          <a:p>
            <a:r>
              <a:rPr lang="en-US" dirty="0"/>
              <a:t>Here, </a:t>
            </a:r>
            <a:r>
              <a:rPr lang="en-US" dirty="0" err="1"/>
              <a:t>setValue</a:t>
            </a:r>
            <a:r>
              <a:rPr lang="en-US" dirty="0"/>
              <a:t> returns *this, allowing the caller to chain additional method calls like </a:t>
            </a:r>
            <a:r>
              <a:rPr lang="en-US" dirty="0" err="1"/>
              <a:t>printValue</a:t>
            </a:r>
            <a:r>
              <a:rPr lang="en-US" dirty="0"/>
              <a:t>().</a:t>
            </a:r>
          </a:p>
          <a:p>
            <a:pPr algn="l">
              <a:buFont typeface="+mj-lt"/>
              <a:buAutoNum type="arabicPeriod" startAt="5"/>
            </a:pPr>
            <a:br>
              <a:rPr lang="en-US" dirty="0"/>
            </a:b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Here, each method returns *this, allowing the caller to chain multiple method calls.</a:t>
            </a:r>
          </a:p>
          <a:p>
            <a:br>
              <a:rPr lang="en-US" dirty="0"/>
            </a:br>
            <a:r>
              <a:rPr lang="en-US" dirty="0"/>
              <a:t>Here, each method returns *this, allowing the caller to chain multiple method calls.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8CA4D-59F9-4328-9A31-7FD5822C78E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0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 startAt="2"/>
            </a:pP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Here, </a:t>
            </a:r>
            <a:r>
              <a:rPr lang="en-US" b="0" i="0" dirty="0" err="1">
                <a:solidFill>
                  <a:srgbClr val="2C2C36"/>
                </a:solidFill>
                <a:effectLst/>
                <a:latin typeface="system-ui"/>
              </a:rPr>
              <a:t>setValue</a:t>
            </a: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 returns *this, allowing the caller to chain additional method calls like </a:t>
            </a:r>
            <a:r>
              <a:rPr lang="en-US" b="0" i="0" dirty="0" err="1">
                <a:solidFill>
                  <a:srgbClr val="2C2C36"/>
                </a:solidFill>
                <a:effectLst/>
                <a:latin typeface="system-ui"/>
              </a:rPr>
              <a:t>printValue</a:t>
            </a: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().</a:t>
            </a:r>
          </a:p>
          <a:p>
            <a:r>
              <a:rPr lang="en-US" dirty="0"/>
              <a:t>Here, </a:t>
            </a:r>
            <a:r>
              <a:rPr lang="en-US" dirty="0" err="1"/>
              <a:t>setValue</a:t>
            </a:r>
            <a:r>
              <a:rPr lang="en-US" dirty="0"/>
              <a:t> returns *this, allowing the caller to chain additional method calls like </a:t>
            </a:r>
            <a:r>
              <a:rPr lang="en-US" dirty="0" err="1"/>
              <a:t>printValue</a:t>
            </a:r>
            <a:r>
              <a:rPr lang="en-US" dirty="0"/>
              <a:t>().</a:t>
            </a:r>
          </a:p>
          <a:p>
            <a:pPr algn="l">
              <a:buFont typeface="+mj-lt"/>
              <a:buAutoNum type="arabicPeriod" startAt="5"/>
            </a:pPr>
            <a:br>
              <a:rPr lang="en-US" dirty="0"/>
            </a:br>
            <a:r>
              <a:rPr lang="en-US" b="0" i="0" dirty="0">
                <a:solidFill>
                  <a:srgbClr val="2C2C36"/>
                </a:solidFill>
                <a:effectLst/>
                <a:latin typeface="system-ui"/>
              </a:rPr>
              <a:t>Here, each method returns *this, allowing the caller to chain multiple method calls.</a:t>
            </a:r>
          </a:p>
          <a:p>
            <a:br>
              <a:rPr lang="en-US" dirty="0"/>
            </a:br>
            <a:r>
              <a:rPr lang="en-US" dirty="0"/>
              <a:t>Here, each method returns *this, allowing the caller to chain multiple method calls.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8CA4D-59F9-4328-9A31-7FD5822C78E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71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92DA-91C1-4BB8-A624-0C4927FAF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482610-4109-4201-9126-5B023C794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2D2F9-B382-4430-9499-93B29CF9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64D7-3FBD-4A3F-96DD-9B7C1C0EB63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88E5E-0237-4939-9752-91D0D86FD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19A3B-4B51-4190-8418-AB99DAF33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C137-BE81-4BED-8022-B2B1D87B4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0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F1CF-64AA-49FE-90B1-C1153D3A5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DBAFD-635B-4C49-8C2B-7E370368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BAFF3-8CA3-48AF-9DDC-B3ADA0EB6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64D7-3FBD-4A3F-96DD-9B7C1C0EB63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CCB2F-4076-4F4C-A38C-6F2C8557C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419B9-383B-4A67-89B8-2EB72C88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C137-BE81-4BED-8022-B2B1D87B4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6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72839-1F58-4E5C-B41A-6A4049C83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1B877-5EC7-450E-9D8F-3D483A972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05F36-C8D3-4AC1-BF25-63EFC99D4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64D7-3FBD-4A3F-96DD-9B7C1C0EB63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3204A-CE4B-4397-A476-C2E8441E1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D3BF6-BBE4-43CB-B7A0-DD9E5437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C137-BE81-4BED-8022-B2B1D87B4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63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E702E-BC37-4C57-8EC0-617FF975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5FAD6-7565-4D58-9523-F4F74179E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26B8D-F0A7-43B5-8A0F-B354D04FA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4011F-0712-4CF6-9A15-5DCEF7406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64D7-3FBD-4A3F-96DD-9B7C1C0EB63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EDB7B-9DD5-4E73-AB48-00FE5FE75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31F4C-1949-4CDF-98C0-90745F21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C137-BE81-4BED-8022-B2B1D87B4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23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54F51-04B2-4277-A2DC-CEAA1A2A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CEE8D-5D21-44E0-B3EE-9039F4AE4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D95B5-1479-451B-8888-75494C043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EF9F5C-8B7D-4DD6-AB16-6D1E13DF6F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E515A-20AF-48A4-B388-8FC803ED1E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1A20CD-7187-4D39-A543-58A00B6E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64D7-3FBD-4A3F-96DD-9B7C1C0EB63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71546F-B0A1-4619-82B3-2D837E1E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F46EB9-129A-493E-84A4-ED72A4FCB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C137-BE81-4BED-8022-B2B1D87B4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8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C4260-B5C0-4546-9874-13ED857BC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CA4B88-9D7C-44F7-9E67-63CE3817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64D7-3FBD-4A3F-96DD-9B7C1C0EB63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150AB-D5AF-43D1-80E5-282C3310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504A1-55A8-4668-9D95-2CC35DDB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C137-BE81-4BED-8022-B2B1D87B4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4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9E9CE7-09C5-46CD-A727-7BA454293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64D7-3FBD-4A3F-96DD-9B7C1C0EB63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6787D9-CAFE-4378-9A34-9B530EE8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C8B81-4EB9-4D3D-825F-AFD532EE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C137-BE81-4BED-8022-B2B1D87B4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11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2C78-8558-47A2-AEEA-0A6BFFCF8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23D3F-C1FA-4CA5-8067-C75DD73CD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3D06F-E47F-4AB3-9C67-544FD5E96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68A7F-C848-4ABC-B4A0-0C41609BE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64D7-3FBD-4A3F-96DD-9B7C1C0EB63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19827-6678-4D84-9488-0D730E3C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53544-75A6-400C-8B3A-859E30DC4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C137-BE81-4BED-8022-B2B1D87B4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25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2270-FA0C-4C89-A15B-16E9D5342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7F2D15-C928-42D1-A9F6-EF4D1630D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AC3B3-D5C4-4B9C-B103-372035628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659B5-C3FB-4162-9291-0A3AE495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64D7-3FBD-4A3F-96DD-9B7C1C0EB63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8FB80-8190-47D6-9021-5AEE8837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F1989-8B04-4CF8-9E25-6A50AE39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C137-BE81-4BED-8022-B2B1D87B4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7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79FFC-9A99-4E21-9C98-B73F7BF4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E8025-2024-4374-B7ED-384A4FF73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60D42-AF4B-4DD1-9028-78AA8DDCC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64D7-3FBD-4A3F-96DD-9B7C1C0EB63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109E9-772D-4C61-AD96-3B682FF91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C4E5A-C009-46C3-BB69-D56F8112D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C137-BE81-4BED-8022-B2B1D87B4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79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CB54AA-2E55-43DB-84D5-C42D63DAE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87B530-0D3C-475E-90C1-D85602B32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DA200-A0ED-4A20-AE47-12E274974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64D7-3FBD-4A3F-96DD-9B7C1C0EB63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E299C-1D06-42C2-B852-6C56EB8C6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EB13-FADD-4DE2-A192-E2366EB7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C137-BE81-4BED-8022-B2B1D87B4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80168-7518-43DF-BAC0-D7FD0AE3A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3C2EA-5DC5-4E7E-BF95-537F7EE6D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8A19C-0859-4E71-82F0-78244A020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D64D7-3FBD-4A3F-96DD-9B7C1C0EB63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A5F8C-5B5E-4D9E-89EB-4C1D89711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389F-4D4F-4212-929D-CD7020E2F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1C137-BE81-4BED-8022-B2B1D87B4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7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1BE5-127D-417B-B19E-68F69E5A70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 of This in C++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1925B-45A6-436A-A7E1-3E39AA8040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38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BC0F-B8A7-4CBE-AC1C-7E5C1DB9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5"/>
            <a:ext cx="1209458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0" i="0" dirty="0">
                <a:effectLst/>
                <a:latin typeface="system-ui"/>
              </a:rPr>
              <a:t>Accessing Class Members with Name Conflicts(1/3) </a:t>
            </a:r>
            <a:endParaRPr lang="en-US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ABB5B-2F5C-49B2-802F-F9DA53349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93268" y="1845335"/>
            <a:ext cx="8201321" cy="435133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x;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x)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this-&gt;x = x; // 'this-&gt;x' refers to the class member, while 'x' refers to the parameter.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const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x;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ECB7991-DD4D-4CEA-867C-CE909ABF5F1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29153" y="1845335"/>
            <a:ext cx="3168190" cy="2739163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a member function has parameters or local variables with the same name as class members, you can 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EB57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disambiguate between the two.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CC6A692-610A-405F-8BE0-C18272BD84D5}"/>
              </a:ext>
            </a:extLst>
          </p:cNvPr>
          <p:cNvSpPr txBox="1">
            <a:spLocks/>
          </p:cNvSpPr>
          <p:nvPr/>
        </p:nvSpPr>
        <p:spPr>
          <a:xfrm>
            <a:off x="6513921" y="4312108"/>
            <a:ext cx="3902698" cy="21807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obj.setX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(42);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obj.getX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// Output: 42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1490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BC0F-B8A7-4CBE-AC1C-7E5C1DB9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4" y="400312"/>
            <a:ext cx="1195318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0" i="0" dirty="0">
                <a:effectLst/>
                <a:latin typeface="system-ui"/>
              </a:rPr>
              <a:t>Accessing Class Members with Name Conflicts(2/3)  </a:t>
            </a:r>
            <a:endParaRPr lang="en-US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ABB5B-2F5C-49B2-802F-F9DA53349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398" y="1619090"/>
            <a:ext cx="11865203" cy="503623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value;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value(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value)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this-&gt;value = value; // 'this' differentiates member 'value' from parameter 'value'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"Value: " &lt;&lt; this-&gt;value &lt;&lt;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CC6A692-610A-405F-8BE0-C18272BD84D5}"/>
              </a:ext>
            </a:extLst>
          </p:cNvPr>
          <p:cNvSpPr txBox="1">
            <a:spLocks/>
          </p:cNvSpPr>
          <p:nvPr/>
        </p:nvSpPr>
        <p:spPr>
          <a:xfrm>
            <a:off x="7569723" y="1610434"/>
            <a:ext cx="4458878" cy="2563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obj(10);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obj.printValue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// Output: Value: 10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obj.setValue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obj.printValue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// Output: Value: 20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35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BC0F-B8A7-4CBE-AC1C-7E5C1DB9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4" y="400312"/>
            <a:ext cx="1195318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0" i="0" dirty="0">
                <a:effectLst/>
                <a:latin typeface="system-ui"/>
              </a:rPr>
              <a:t>Accessing Class Members with Name Conflicts(3/3)  </a:t>
            </a:r>
            <a:endParaRPr lang="en-US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ABB5B-2F5C-49B2-802F-F9DA53349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398" y="1505969"/>
            <a:ext cx="11865203" cy="527190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Person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std::string name;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age;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setData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(std::string name, int age)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this-&gt;name = name; // 'this-&gt;name' is the member variable, 'name' is the parameter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this-&gt;age = age;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"Name: " &lt;&lt; name &lt;&lt; ", Age: " &lt;&lt; age &lt;&lt;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CC6A692-610A-405F-8BE0-C18272BD84D5}"/>
              </a:ext>
            </a:extLst>
          </p:cNvPr>
          <p:cNvSpPr txBox="1">
            <a:spLocks/>
          </p:cNvSpPr>
          <p:nvPr/>
        </p:nvSpPr>
        <p:spPr>
          <a:xfrm>
            <a:off x="7569723" y="1610434"/>
            <a:ext cx="4458878" cy="2563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Person p;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p.setData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("Alice", 25);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p.display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// Output: Name: Alice, Age: 25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750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BC0F-B8A7-4CBE-AC1C-7E5C1DB94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Explicitly Access Members of the Current Object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ABB5B-2F5C-49B2-802F-F9DA53349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9062" y="1576649"/>
            <a:ext cx="8201321" cy="5116382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Point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x, y;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Point(int x, int y) : x(x), y(y) {}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bool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isEqual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(Point&amp; other)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(this-&gt;x ==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other.x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&amp;&amp; this-&gt;y ==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other.y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CC6A692-610A-405F-8BE0-C18272BD84D5}"/>
              </a:ext>
            </a:extLst>
          </p:cNvPr>
          <p:cNvSpPr txBox="1">
            <a:spLocks/>
          </p:cNvSpPr>
          <p:nvPr/>
        </p:nvSpPr>
        <p:spPr>
          <a:xfrm>
            <a:off x="7451102" y="1688183"/>
            <a:ext cx="3902698" cy="24280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Point p1(3, 4), p2(3, 4);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(p1.isEqual(p2) ? "Equal" : "Not Equal") &lt;&lt;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// Output: Equal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B822382-C270-4FDE-B290-66E00A11096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48366" y="2379065"/>
            <a:ext cx="2951015" cy="1898933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800" dirty="0"/>
              <a:t>When a member function needs to compare or interact with another object of the same class, this helps distinguish the current object from the other.</a:t>
            </a:r>
          </a:p>
        </p:txBody>
      </p:sp>
    </p:spTree>
    <p:extLst>
      <p:ext uri="{BB962C8B-B14F-4D97-AF65-F5344CB8AC3E}">
        <p14:creationId xmlns:p14="http://schemas.microsoft.com/office/powerpoint/2010/main" val="2868315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BC0F-B8A7-4CBE-AC1C-7E5C1DB94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Work with Multiple Objects of the Same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ABB5B-2F5C-49B2-802F-F9DA53349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9062" y="1576649"/>
            <a:ext cx="8201321" cy="5116382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Box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width;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Box(int w) : width(w) {}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getWidth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this-&gt;width; // Explicitly using 'this' for clarity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CC6A692-610A-405F-8BE0-C18272BD84D5}"/>
              </a:ext>
            </a:extLst>
          </p:cNvPr>
          <p:cNvSpPr txBox="1">
            <a:spLocks/>
          </p:cNvSpPr>
          <p:nvPr/>
        </p:nvSpPr>
        <p:spPr>
          <a:xfrm>
            <a:off x="6514183" y="1706783"/>
            <a:ext cx="5156200" cy="24280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Box b(5);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b.getWidth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// Output: 5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B822382-C270-4FDE-B290-66E00A11096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48366" y="2254416"/>
            <a:ext cx="2951015" cy="2148232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800" dirty="0"/>
              <a:t>Even when there’s no naming conflict, some developers use this for clarity or consistency, explicitly indicating that a variable or function belongs to the current object.</a:t>
            </a:r>
          </a:p>
        </p:txBody>
      </p:sp>
    </p:spTree>
    <p:extLst>
      <p:ext uri="{BB962C8B-B14F-4D97-AF65-F5344CB8AC3E}">
        <p14:creationId xmlns:p14="http://schemas.microsoft.com/office/powerpoint/2010/main" val="1171452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BC0F-B8A7-4CBE-AC1C-7E5C1DB94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0" i="0" dirty="0">
                <a:effectLst/>
                <a:latin typeface="system-ui"/>
              </a:rPr>
              <a:t>Returning the Current Object(1/2) </a:t>
            </a:r>
            <a:endParaRPr lang="en-US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ABB5B-2F5C-49B2-802F-F9DA53349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9062" y="1576649"/>
            <a:ext cx="8201321" cy="5116382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value;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v)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value = v;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*this; // Return the current object by reference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const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"Value: " &lt;&lt; value &lt;&lt;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};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CC6A692-610A-405F-8BE0-C18272BD84D5}"/>
              </a:ext>
            </a:extLst>
          </p:cNvPr>
          <p:cNvSpPr txBox="1">
            <a:spLocks/>
          </p:cNvSpPr>
          <p:nvPr/>
        </p:nvSpPr>
        <p:spPr>
          <a:xfrm>
            <a:off x="7451102" y="1688183"/>
            <a:ext cx="3902698" cy="24280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obj.setValue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(10).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// Method chaining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B822382-C270-4FDE-B290-66E00A11096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48366" y="2482170"/>
            <a:ext cx="2951015" cy="1692723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EB57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pointer is often used to return the current object from a member function. This is useful for chaining method calls.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8157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BC0F-B8A7-4CBE-AC1C-7E5C1DB94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0" i="0" dirty="0">
                <a:effectLst/>
                <a:latin typeface="system-ui"/>
              </a:rPr>
              <a:t>Returning the Current Object(2/2) </a:t>
            </a:r>
            <a:endParaRPr lang="en-US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ABB5B-2F5C-49B2-802F-F9DA53349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0" y="1444978"/>
            <a:ext cx="11365583" cy="524805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Counter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count;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Counter() : count(0) {}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Counter&amp; increment()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count++;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*this; // Returns the current object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show()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"Count: " &lt;&lt; count &lt;&lt;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CC6A692-610A-405F-8BE0-C18272BD84D5}"/>
              </a:ext>
            </a:extLst>
          </p:cNvPr>
          <p:cNvSpPr txBox="1">
            <a:spLocks/>
          </p:cNvSpPr>
          <p:nvPr/>
        </p:nvSpPr>
        <p:spPr>
          <a:xfrm>
            <a:off x="7451102" y="1688183"/>
            <a:ext cx="3902698" cy="24280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Counter c;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c.increment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().increment().show(); // Chaining: increments twice, then shows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Output: Count: 2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1074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BC0F-B8A7-4CBE-AC1C-7E5C1DB9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88" y="251086"/>
            <a:ext cx="11777223" cy="1325563"/>
          </a:xfrm>
        </p:spPr>
        <p:txBody>
          <a:bodyPr>
            <a:normAutofit/>
          </a:bodyPr>
          <a:lstStyle/>
          <a:p>
            <a:r>
              <a:rPr lang="en-US" sz="4000" b="0" i="0" dirty="0">
                <a:effectLst/>
                <a:latin typeface="system-ui"/>
              </a:rPr>
              <a:t>Passing the Current Object to Other Functions(1/2) </a:t>
            </a:r>
            <a:endParaRPr lang="en-US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ABB5B-2F5C-49B2-802F-F9DA53349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7388" y="1284418"/>
            <a:ext cx="11634656" cy="5573582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externalFunction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obj)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"Passed object's value: " &lt;&lt; obj-&gt;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value;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v) : value(v) {}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const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value;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passToExternalFunction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externalFunction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(this); // Pass the current object to an external function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};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CC6A692-610A-405F-8BE0-C18272BD84D5}"/>
              </a:ext>
            </a:extLst>
          </p:cNvPr>
          <p:cNvSpPr txBox="1">
            <a:spLocks/>
          </p:cNvSpPr>
          <p:nvPr/>
        </p:nvSpPr>
        <p:spPr>
          <a:xfrm>
            <a:off x="6271973" y="3390033"/>
            <a:ext cx="5410982" cy="19042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obj(42);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obj.passToExternalFunction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// Output: Passed object's value: 42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 }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2E3B5AA-7394-4D83-9440-34CC2C682A3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625156" y="1604140"/>
            <a:ext cx="3941531" cy="1384946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EB57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pointer can be used to pass the current object to another function.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31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BC0F-B8A7-4CBE-AC1C-7E5C1DB9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251086"/>
            <a:ext cx="11887200" cy="1325563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system-ui"/>
              </a:rPr>
              <a:t>Passing the Current Object to Other Functions(2/2)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ABB5B-2F5C-49B2-802F-F9DA53349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7387" y="1284418"/>
            <a:ext cx="11770123" cy="5573582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Printer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printObject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(int*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"Address: " &lt;&lt;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sendToPrinter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(Printer&amp; p)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p.printObject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(this); // Passes the address of the current object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CC6A692-610A-405F-8BE0-C18272BD84D5}"/>
              </a:ext>
            </a:extLst>
          </p:cNvPr>
          <p:cNvSpPr txBox="1">
            <a:spLocks/>
          </p:cNvSpPr>
          <p:nvPr/>
        </p:nvSpPr>
        <p:spPr>
          <a:xfrm>
            <a:off x="6396150" y="1922477"/>
            <a:ext cx="5410982" cy="21641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Printer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obj.sendToPrinter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(printer);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6497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BC0F-B8A7-4CBE-AC1C-7E5C1DB9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7379" y="82321"/>
            <a:ext cx="13196711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0" i="0" dirty="0">
                <a:effectLst/>
                <a:latin typeface="system-ui"/>
              </a:rPr>
              <a:t>Preventing Self-Assignment in Operator Overloading(1/2)</a:t>
            </a:r>
            <a:endParaRPr lang="en-US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ABB5B-2F5C-49B2-802F-F9DA53349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4425" y="1011040"/>
            <a:ext cx="6268826" cy="5613809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int* data;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value) {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data = new int(value);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operator=(const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other) {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(this == &amp;other) { // Check for self-assignment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*this;         }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delete data;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data = new int(*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other.data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*this;     }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~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delete data;     }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2A6BE4D-CD61-47C7-B255-000B7F111FD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3626" y="1884425"/>
            <a:ext cx="4965129" cy="1384946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EB575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pointer is commonly used in operator overloading to avoid self-assignment issues.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757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BC0F-B8A7-4CBE-AC1C-7E5C1DB9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7379" y="82321"/>
            <a:ext cx="13196711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0" i="0" dirty="0">
                <a:effectLst/>
                <a:latin typeface="system-ui"/>
              </a:rPr>
              <a:t>Preventing Self-Assignment in Operator Overloading(2/2)</a:t>
            </a:r>
            <a:endParaRPr lang="en-US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ABB5B-2F5C-49B2-802F-F9DA53349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9644" y="1011040"/>
            <a:ext cx="11363607" cy="5764639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Number {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     int* data;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Number(int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data = new int(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}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Number&amp; operator=(const Number&amp; other) {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(this == &amp;other) { // Check for self-assignment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*this;         }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delete data; // Clean up old memory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data = new int(*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other.data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// Allocate and copy new data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*this;     }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show() {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std::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*data &lt;&lt; std::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~Number() {         delete data;     }};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DFDDD1A-B72B-4C2D-B1EC-A6330CAA7D51}"/>
              </a:ext>
            </a:extLst>
          </p:cNvPr>
          <p:cNvSpPr txBox="1">
            <a:spLocks/>
          </p:cNvSpPr>
          <p:nvPr/>
        </p:nvSpPr>
        <p:spPr>
          <a:xfrm>
            <a:off x="6396150" y="1922477"/>
            <a:ext cx="5410982" cy="21641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Number n1(10);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n1 = n1; // Self-assignment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n1.show(); // Output: 10 (still works correctly)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889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BC0F-B8A7-4CBE-AC1C-7E5C1DB9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664" y="16496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0" i="0" dirty="0">
                <a:effectLst/>
                <a:latin typeface="system-ui"/>
              </a:rPr>
              <a:t>Enabling Fluent Interfaces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ABB5B-2F5C-49B2-802F-F9DA53349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41015" y="1199576"/>
            <a:ext cx="8201321" cy="557829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Builder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std::string name;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age;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Builder&amp;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setName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(const std::string&amp; n)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n;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*this;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Builder&amp;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a)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age = a;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*this;    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display() const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"Name: " &lt;&lt; name &lt;&lt; ", Age: " &lt;&lt; age &lt;&lt;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}};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CC6A692-610A-405F-8BE0-C18272BD84D5}"/>
              </a:ext>
            </a:extLst>
          </p:cNvPr>
          <p:cNvSpPr txBox="1">
            <a:spLocks/>
          </p:cNvSpPr>
          <p:nvPr/>
        </p:nvSpPr>
        <p:spPr>
          <a:xfrm>
            <a:off x="7767685" y="1820158"/>
            <a:ext cx="3902698" cy="26405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Builder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builder.setName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("Alice").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(30).display();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Output: Name: Alice, Age: 30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B822382-C270-4FDE-B290-66E00A11096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48366" y="2328282"/>
            <a:ext cx="2951015" cy="2000499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Fluent interfaces allow method chaining, where multiple methods are called on the same object in a single statement. The this pointer enables this behavior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659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BC0F-B8A7-4CBE-AC1C-7E5C1DB9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2547" y="80129"/>
            <a:ext cx="12603636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0" i="0" dirty="0">
                <a:effectLst/>
                <a:latin typeface="system-ui"/>
              </a:rPr>
              <a:t>Accessing Derived Class Objects in Base Class Methods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ABB5B-2F5C-49B2-802F-F9DA53349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3649" y="1180723"/>
            <a:ext cx="8371002" cy="5766831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Base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virtual void identify()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"Base class" &lt;&lt;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}};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Derived : public Base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identify() override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"Derived class" &lt;&lt;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}};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checkType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(Base* obj)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dynamic_cast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&lt;Derived*&gt;(obj))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"Object is of Derived type" &lt;&lt;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else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"Object is of Base type" &lt;&lt; std::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}}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CC6A692-610A-405F-8BE0-C18272BD84D5}"/>
              </a:ext>
            </a:extLst>
          </p:cNvPr>
          <p:cNvSpPr txBox="1">
            <a:spLocks/>
          </p:cNvSpPr>
          <p:nvPr/>
        </p:nvSpPr>
        <p:spPr>
          <a:xfrm>
            <a:off x="7861953" y="1773024"/>
            <a:ext cx="3902698" cy="26405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Derived d;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Base*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basePtr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&amp;d;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checkType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basePtr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// Output: Object is of Derived type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B822382-C270-4FDE-B290-66E00A11096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48366" y="2482170"/>
            <a:ext cx="2951015" cy="1692723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inheritance scenarios, the this pointer can be cast to a derived class type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dynamic_cast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static_cast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772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2235</Words>
  <Application>Microsoft Office PowerPoint</Application>
  <PresentationFormat>Widescreen</PresentationFormat>
  <Paragraphs>302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system-ui</vt:lpstr>
      <vt:lpstr>Times New Roman</vt:lpstr>
      <vt:lpstr>Office Theme</vt:lpstr>
      <vt:lpstr>Use of This in C++</vt:lpstr>
      <vt:lpstr>Accessing Class Members with Name Conflicts(1/3) </vt:lpstr>
      <vt:lpstr>Accessing Class Members with Name Conflicts(2/3)  </vt:lpstr>
      <vt:lpstr>Accessing Class Members with Name Conflicts(3/3)  </vt:lpstr>
      <vt:lpstr>Explicitly Access Members of the Current Object</vt:lpstr>
      <vt:lpstr>Work with Multiple Objects of the Same Class</vt:lpstr>
      <vt:lpstr>Returning the Current Object(1/2) </vt:lpstr>
      <vt:lpstr>Returning the Current Object(2/2) </vt:lpstr>
      <vt:lpstr>Passing the Current Object to Other Functions(1/2) </vt:lpstr>
      <vt:lpstr>Passing the Current Object to Other Functions(2/2) </vt:lpstr>
      <vt:lpstr>Preventing Self-Assignment in Operator Overloading(1/2)</vt:lpstr>
      <vt:lpstr>Preventing Self-Assignment in Operator Overloading(2/2)</vt:lpstr>
      <vt:lpstr>Enabling Fluent Interfaces </vt:lpstr>
      <vt:lpstr>Accessing Derived Class Objects in Base Class Methods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Ahmad Nawaz Lecturer FCSE</dc:creator>
  <cp:lastModifiedBy>Muhammad Ahmad Nawaz Lecturer FCSE</cp:lastModifiedBy>
  <cp:revision>31</cp:revision>
  <dcterms:created xsi:type="dcterms:W3CDTF">2025-04-08T08:47:21Z</dcterms:created>
  <dcterms:modified xsi:type="dcterms:W3CDTF">2025-04-09T06:24:09Z</dcterms:modified>
</cp:coreProperties>
</file>